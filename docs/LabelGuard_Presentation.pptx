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ae97aa2-b28b-85fc-e136-2fdda65d9470}">
          <p14:sldIdLst>
            <p14:sldId id="256"/>
          </p14:sldIdLst>
        </p14:section>
        <p14:section name="Problem and idea" id="{9b13b62f-14a7-7a86-99f9-b0b545cf3ffc}">
          <p14:sldIdLst>
            <p14:sldId id="257"/>
            <p14:sldId id="258"/>
          </p14:sldIdLst>
        </p14:section>
        <p14:section name="How it works" id="{90201cc9-f5f8-2665-c81b-af9916cba3cb}">
          <p14:sldIdLst>
            <p14:sldId id="259"/>
            <p14:sldId id="260"/>
          </p14:sldIdLst>
        </p14:section>
        <p14:section name="Results" id="{4e669c15-1a12-ccab-d86d-b3b12f89f307}">
          <p14:sldIdLst>
            <p14:sldId id="261"/>
            <p14:sldId id="262"/>
          </p14:sldIdLst>
        </p14:section>
        <p14:section name="Wrap-up" id="{1ce29319-d5e6-bd16-730d-0377f10e4eaf}">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LabelGuard answers one question for a packaging team: is this artwork ready to print? It is live at the link on the slide, and the code is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it is slow, mistakes are expensive, and plain AI is not trustworthy enough for a compliance decision. So our goal was AI that proves every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choice: each part does what it is best at. AI understands language and images, code does exact comparisons and measurements, and the trust layer decides what can be believed.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Code reads the files exactly; the AI understands rules, spec and artwork in parallel; code cross-checks values and measures sizes; the AI judges every rule; the trust layer verifies the AI; the reviewer gets a verdict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handle uncertainty and wrong AI output. In our tests we deliberately feed the system an AI that makes these mistakes, and the trust layer catches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realistic pouch with seven planted errors. LabelGuard caught all seven with real Gemini, gave zero false alarms on the corrected version, and found the same errors from a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app on the recorded Gemini run. The banner gives the verdict, each finding links to its evidence on the artwork, and the reviewer stays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choice earns no points by itself: AI is used only where it adds value, and everything that can be verified is done by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judges to try it. Recorded examples work instantly; new artwork needs the access code or their own free Gemini key.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G_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943600" cy="1005840"/>
          </a:xfrm>
          <a:prstGeom prst="rect">
            <a:avLst/>
          </a:prstGeom>
          <a:noFill/>
          <a:ln/>
        </p:spPr>
        <p:txBody>
          <a:bodyPr wrap="square" rtlCol="0"/>
          <a:lstStyle>
            <a:lvl1pPr algn="l" indent="0" marL="0">
              <a:buNone/>
              <a:defRPr lang="en-US" sz="5400" b="1" dirty="0">
                <a:solidFill>
                  <a:schemeClr val="accent1"/>
                </a:solidFill>
              </a:defRPr>
            </a:lvl1pPr>
          </a:lstStyle>
          <a:p>
            <a:pPr algn="l" indent="0" marL="0">
              <a:buNone/>
            </a:pPr>
            <a:endParaRPr lang="en-US" sz="5400" dirty="0"/>
          </a:p>
        </p:txBody>
      </p:sp>
      <p:sp>
        <p:nvSpPr>
          <p:cNvPr id="3" name="Text 0"/>
          <p:cNvSpPr/>
          <p:nvPr>
            <p:ph idx="101" type="body" hasCustomPrompt="1"/>
          </p:nvPr>
        </p:nvSpPr>
        <p:spPr>
          <a:xfrm>
            <a:off x="548640" y="2331720"/>
            <a:ext cx="5943600" cy="914400"/>
          </a:xfrm>
          <a:prstGeom prst="rect">
            <a:avLst/>
          </a:prstGeom>
          <a:noFill/>
          <a:ln/>
        </p:spPr>
        <p:txBody>
          <a:bodyPr wrap="square" rtlCol="0"/>
          <a:lstStyle>
            <a:lvl1pPr algn="l" indent="0" marL="0">
              <a:buNone/>
              <a:defRPr lang="en-US" sz="2600" dirty="0">
                <a:solidFill>
                  <a:schemeClr val="tx1"/>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G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LabelGuard  ·  Esko AIForge 2026</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labelguard-re4hy3d9hvwj6rffs4fdcn.streamlit.app/" TargetMode="External"/><Relationship Id="rId2" Type="http://schemas.openxmlformats.org/officeDocument/2006/relationships/hyperlink" Target="https://github.com/Rarxx4/LabelGuard" TargetMode="External"/><Relationship Id="rId3" Type="http://schemas.openxmlformats.org/officeDocument/2006/relationships/image" Target="../media/image-1-1.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labelguard-re4hy3d9hvwj6rffs4fdcn.streamlit.app/" TargetMode="Externa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labelguard-re4hy3d9hvwj6rffs4fdcn.streamlit.app/" TargetMode="External"/><Relationship Id="rId2" Type="http://schemas.openxmlformats.org/officeDocument/2006/relationships/hyperlink" Target="https://github.com/Rarxx4/LabelGuard" TargetMode="Externa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943600" cy="1005840"/>
          </a:xfrm>
          <a:prstGeom prst="rect">
            <a:avLst/>
          </a:prstGeom>
          <a:noFill/>
          <a:ln/>
        </p:spPr>
        <p:txBody>
          <a:bodyPr wrap="square" lIns="0" tIns="0" rIns="0" bIns="0" rtlCol="0" anchor="b"/>
          <a:lstStyle/>
          <a:p>
            <a:pPr algn="l" indent="0" marL="0">
              <a:buNone/>
            </a:pPr>
            <a:r>
              <a:rPr lang="en-US" sz="5400" b="1" dirty="0">
                <a:solidFill>
                  <a:schemeClr val="accent1"/>
                </a:solidFill>
              </a:rPr>
              <a:t>LabelGuard</a:t>
            </a:r>
            <a:endParaRPr lang="en-US" sz="5400" dirty="0"/>
          </a:p>
        </p:txBody>
      </p:sp>
      <p:sp>
        <p:nvSpPr>
          <p:cNvPr id="3" name="Text 0"/>
          <p:cNvSpPr/>
          <p:nvPr>
            <p:ph idx="101" type="body" hasCustomPrompt="1"/>
          </p:nvPr>
        </p:nvSpPr>
        <p:spPr>
          <a:xfrm>
            <a:off x="548640" y="2331720"/>
            <a:ext cx="5943600" cy="914400"/>
          </a:xfrm>
          <a:prstGeom prst="rect">
            <a:avLst/>
          </a:prstGeom>
          <a:noFill/>
          <a:ln/>
        </p:spPr>
        <p:txBody>
          <a:bodyPr wrap="square" lIns="0" tIns="0" rIns="0" bIns="0" rtlCol="0" anchor="t"/>
          <a:lstStyle/>
          <a:p>
            <a:pPr algn="l" indent="0" marL="0">
              <a:buNone/>
            </a:pPr>
            <a:r>
              <a:rPr lang="en-US" sz="2600" dirty="0">
                <a:solidFill>
                  <a:schemeClr val="tx1"/>
                </a:solidFill>
              </a:rPr>
              <a:t>Is this packaging artwork ready to launch?</a:t>
            </a:r>
            <a:endParaRPr lang="en-US" sz="2600" dirty="0"/>
          </a:p>
        </p:txBody>
      </p:sp>
      <p:sp>
        <p:nvSpPr>
          <p:cNvPr id="4" name="tagline"/>
          <p:cNvSpPr txBox="1"/>
          <p:nvPr/>
        </p:nvSpPr>
        <p:spPr>
          <a:xfrm>
            <a:off x="548640" y="3429000"/>
            <a:ext cx="5943600" cy="822960"/>
          </a:xfrm>
          <a:prstGeom prst="rect">
            <a:avLst/>
          </a:prstGeom>
          <a:noFill/>
          <a:ln/>
        </p:spPr>
        <p:txBody>
          <a:bodyPr wrap="square" lIns="0" tIns="0" rIns="0" bIns="0" rtlCol="0" anchor="ctr"/>
          <a:lstStyle/>
          <a:p>
            <a:pPr indent="0" marL="0">
              <a:buNone/>
            </a:pPr>
            <a:r>
              <a:rPr lang="en-US" sz="1800" dirty="0">
                <a:solidFill>
                  <a:schemeClr val="tx1"/>
                </a:solidFill>
              </a:rPr>
              <a:t>AI pre-flight check for packaging artwork</a:t>
            </a:r>
            <a:endParaRPr lang="en-US" sz="1800" dirty="0"/>
          </a:p>
          <a:p>
            <a:pPr indent="0" marL="0">
              <a:buNone/>
            </a:pPr>
            <a:r>
              <a:rPr lang="en-US" sz="1800" dirty="0">
                <a:solidFill>
                  <a:schemeClr val="accent6"/>
                </a:solidFill>
              </a:rPr>
              <a:t>Esko AIForge 2026  ·  Theme 2</a:t>
            </a:r>
            <a:endParaRPr lang="en-US" sz="1800" dirty="0"/>
          </a:p>
        </p:txBody>
      </p:sp>
      <p:sp>
        <p:nvSpPr>
          <p:cNvPr id="5" name="links"/>
          <p:cNvSpPr txBox="1"/>
          <p:nvPr/>
        </p:nvSpPr>
        <p:spPr>
          <a:xfrm>
            <a:off x="548640" y="4572000"/>
            <a:ext cx="5943600" cy="1143000"/>
          </a:xfrm>
          <a:prstGeom prst="rect">
            <a:avLst/>
          </a:prstGeom>
          <a:solidFill>
            <a:schemeClr val="bg1"/>
          </a:solidFill>
          <a:ln w="12700">
            <a:solidFill>
              <a:schemeClr val="accent6"/>
            </a:solidFill>
          </a:ln>
        </p:spPr>
        <p:txBody>
          <a:bodyPr wrap="square" lIns="127000" tIns="152400" rIns="152400" bIns="127000" rtlCol="0" anchor="ctr"/>
          <a:lstStyle/>
          <a:p>
            <a:pPr indent="0" marL="0">
              <a:buNone/>
            </a:pPr>
            <a:r>
              <a:rPr lang="en-US" sz="1500" b="1" dirty="0">
                <a:solidFill>
                  <a:schemeClr val="tx1"/>
                </a:solidFill>
              </a:rPr>
              <a:t>Live app:  </a:t>
            </a:r>
            <a:pPr indent="0" marL="0">
              <a:buNone/>
            </a:pPr>
            <a:r>
              <a:rPr lang="en-US" sz="15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labelguard-re4hy3d9hvwj6rffs4fdcn.streamlit.app</a:t>
            </a:r>
            <a:endParaRPr lang="en-US" sz="1500" dirty="0"/>
          </a:p>
          <a:p>
            <a:pPr indent="0" marL="0">
              <a:buNone/>
            </a:pPr>
            <a:r>
              <a:rPr lang="en-US" sz="1500" b="1" dirty="0">
                <a:solidFill>
                  <a:schemeClr val="tx1"/>
                </a:solidFill>
              </a:rPr>
              <a:t>Code:  </a:t>
            </a:r>
            <a:pPr indent="0" marL="0">
              <a:buNone/>
            </a:pPr>
            <a:r>
              <a:rPr lang="en-US" sz="15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github.com/Rarxx4/LabelGuard</a:t>
            </a:r>
            <a:endParaRPr lang="en-US" sz="1500" dirty="0"/>
          </a:p>
        </p:txBody>
      </p:sp>
      <p:pic>
        <p:nvPicPr>
          <p:cNvPr id="6" name="artwork" descr="C:\Users\raksh\AppData\Local\Temp\claude\C--Users-raksh\2894d81d-6b99-4316-a661-7e6c7e9217a6\scratchpad\deck\annotated_v1.png">    </p:cNvPr>
          <p:cNvPicPr>
            <a:picLocks noChangeAspect="1"/>
          </p:cNvPicPr>
          <p:nvPr/>
        </p:nvPicPr>
        <p:blipFill>
          <a:blip r:embed="rId3"/>
          <a:stretch>
            <a:fillRect/>
          </a:stretch>
        </p:blipFill>
        <p:spPr>
          <a:xfrm>
            <a:off x="6903720" y="1600200"/>
            <a:ext cx="4754880" cy="2450744"/>
          </a:xfrm>
          <a:prstGeom prst="rect">
            <a:avLst/>
          </a:prstGeom>
        </p:spPr>
      </p:pic>
      <p:sp>
        <p:nvSpPr>
          <p:cNvPr id="7" name="artwork caption"/>
          <p:cNvSpPr txBox="1"/>
          <p:nvPr/>
        </p:nvSpPr>
        <p:spPr>
          <a:xfrm>
            <a:off x="6903720" y="4160520"/>
            <a:ext cx="4754880" cy="320040"/>
          </a:xfrm>
          <a:prstGeom prst="rect">
            <a:avLst/>
          </a:prstGeom>
          <a:noFill/>
          <a:ln/>
        </p:spPr>
        <p:txBody>
          <a:bodyPr wrap="square" lIns="0" tIns="0" rIns="0" bIns="0" rtlCol="0" anchor="ctr"/>
          <a:lstStyle/>
          <a:p>
            <a:pPr indent="0" marL="0">
              <a:buNone/>
            </a:pPr>
            <a:r>
              <a:rPr lang="en-US" sz="1200" i="1" dirty="0">
                <a:solidFill>
                  <a:schemeClr val="accent6"/>
                </a:solidFill>
              </a:rPr>
              <a:t>A real check: every problem is boxed on the artwork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problem</a:t>
            </a:r>
            <a:endParaRPr lang="en-US" sz="3400" dirty="0"/>
          </a:p>
        </p:txBody>
      </p:sp>
      <p:sp>
        <p:nvSpPr>
          <p:cNvPr id="3" name="intro"/>
          <p:cNvSpPr txBox="1"/>
          <p:nvPr/>
        </p:nvSpPr>
        <p:spPr>
          <a:xfrm>
            <a:off x="548640" y="1371600"/>
            <a:ext cx="11064240" cy="914400"/>
          </a:xfrm>
          <a:prstGeom prst="rect">
            <a:avLst/>
          </a:prstGeom>
          <a:noFill/>
          <a:ln/>
        </p:spPr>
        <p:txBody>
          <a:bodyPr wrap="square" lIns="0" tIns="0" rIns="0" bIns="0" rtlCol="0" anchor="ctr"/>
          <a:lstStyle/>
          <a:p>
            <a:pPr indent="0" marL="0">
              <a:buNone/>
            </a:pPr>
            <a:r>
              <a:rPr lang="en-US" sz="1900" dirty="0">
                <a:solidFill>
                  <a:schemeClr val="tx1"/>
                </a:solidFill>
              </a:rPr>
              <a:t>Before packaging goes to print, someone checks every word on the artwork against the regulations, the company rulebook and the approved product data. Today this is done by hand.</a:t>
            </a:r>
            <a:endParaRPr lang="en-US" sz="1900" dirty="0"/>
          </a:p>
        </p:txBody>
      </p:sp>
      <p:sp>
        <p:nvSpPr>
          <p:cNvPr id="4" name="problem 1"/>
          <p:cNvSpPr txBox="1"/>
          <p:nvPr/>
        </p:nvSpPr>
        <p:spPr>
          <a:xfrm>
            <a:off x="548640" y="2651760"/>
            <a:ext cx="3520440" cy="2103120"/>
          </a:xfrm>
          <a:prstGeom prst="rect">
            <a:avLst/>
          </a:prstGeom>
          <a:solidFill>
            <a:schemeClr val="bg1"/>
          </a:solidFill>
          <a:ln w="12700">
            <a:solidFill>
              <a:schemeClr val="accent6"/>
            </a:solidFill>
          </a:ln>
        </p:spPr>
        <p:txBody>
          <a:bodyPr wrap="square" lIns="127000" tIns="152400" rIns="152400" bIns="127000" rtlCol="0" anchor="t"/>
          <a:lstStyle/>
          <a:p>
            <a:pPr indent="0" marL="0">
              <a:buNone/>
            </a:pPr>
            <a:r>
              <a:rPr lang="en-US" sz="2100" b="1" dirty="0">
                <a:solidFill>
                  <a:schemeClr val="tx1"/>
                </a:solidFill>
              </a:rPr>
              <a:t>Slow</a:t>
            </a:r>
            <a:endParaRPr lang="en-US" sz="1500" dirty="0"/>
          </a:p>
          <a:p>
            <a:pPr indent="0" marL="0">
              <a:buNone/>
            </a:pPr>
            <a:r>
              <a:rPr lang="en-US" sz="800" dirty="0">
                <a:solidFill>
                  <a:schemeClr val="tx1"/>
                </a:solidFill>
              </a:rPr>
              <a:t> </a:t>
            </a:r>
            <a:endParaRPr lang="en-US" sz="1500" dirty="0"/>
          </a:p>
          <a:p>
            <a:pPr indent="0" marL="0">
              <a:buNone/>
            </a:pPr>
            <a:r>
              <a:rPr lang="en-US" sz="1600" dirty="0">
                <a:solidFill>
                  <a:schemeClr val="tx1"/>
                </a:solidFill>
              </a:rPr>
              <a:t>Reviewers read artwork, spec sheets and rulebooks side by side, line by line.</a:t>
            </a:r>
            <a:endParaRPr lang="en-US" sz="1500" dirty="0"/>
          </a:p>
        </p:txBody>
      </p:sp>
      <p:sp>
        <p:nvSpPr>
          <p:cNvPr id="5" name="problem 2"/>
          <p:cNvSpPr txBox="1"/>
          <p:nvPr/>
        </p:nvSpPr>
        <p:spPr>
          <a:xfrm>
            <a:off x="4343400" y="2651760"/>
            <a:ext cx="3520440" cy="2103120"/>
          </a:xfrm>
          <a:prstGeom prst="rect">
            <a:avLst/>
          </a:prstGeom>
          <a:solidFill>
            <a:schemeClr val="bg1"/>
          </a:solidFill>
          <a:ln w="12700">
            <a:solidFill>
              <a:schemeClr val="accent6"/>
            </a:solidFill>
          </a:ln>
        </p:spPr>
        <p:txBody>
          <a:bodyPr wrap="square" lIns="127000" tIns="152400" rIns="152400" bIns="127000" rtlCol="0" anchor="t"/>
          <a:lstStyle/>
          <a:p>
            <a:pPr indent="0" marL="0">
              <a:buNone/>
            </a:pPr>
            <a:r>
              <a:rPr lang="en-US" sz="2100" b="1" dirty="0">
                <a:solidFill>
                  <a:schemeClr val="tx1"/>
                </a:solidFill>
              </a:rPr>
              <a:t>Costly when missed</a:t>
            </a:r>
            <a:endParaRPr lang="en-US" sz="1500" dirty="0"/>
          </a:p>
          <a:p>
            <a:pPr indent="0" marL="0">
              <a:buNone/>
            </a:pPr>
            <a:r>
              <a:rPr lang="en-US" sz="800" dirty="0">
                <a:solidFill>
                  <a:schemeClr val="tx1"/>
                </a:solidFill>
              </a:rPr>
              <a:t> </a:t>
            </a:r>
            <a:endParaRPr lang="en-US" sz="1500" dirty="0"/>
          </a:p>
          <a:p>
            <a:pPr indent="0" marL="0">
              <a:buNone/>
            </a:pPr>
            <a:r>
              <a:rPr lang="en-US" sz="1600" dirty="0">
                <a:solidFill>
                  <a:schemeClr val="tx1"/>
                </a:solidFill>
              </a:rPr>
              <a:t>A wrong net quantity or a missing allergen declaration means a reprint, or a recall.</a:t>
            </a:r>
            <a:endParaRPr lang="en-US" sz="1500" dirty="0"/>
          </a:p>
        </p:txBody>
      </p:sp>
      <p:sp>
        <p:nvSpPr>
          <p:cNvPr id="6" name="problem 3"/>
          <p:cNvSpPr txBox="1"/>
          <p:nvPr/>
        </p:nvSpPr>
        <p:spPr>
          <a:xfrm>
            <a:off x="8138160" y="2651760"/>
            <a:ext cx="3520440" cy="2103120"/>
          </a:xfrm>
          <a:prstGeom prst="rect">
            <a:avLst/>
          </a:prstGeom>
          <a:solidFill>
            <a:schemeClr val="bg1"/>
          </a:solidFill>
          <a:ln w="12700">
            <a:solidFill>
              <a:schemeClr val="accent6"/>
            </a:solidFill>
          </a:ln>
        </p:spPr>
        <p:txBody>
          <a:bodyPr wrap="square" lIns="127000" tIns="152400" rIns="152400" bIns="127000" rtlCol="0" anchor="t"/>
          <a:lstStyle/>
          <a:p>
            <a:pPr indent="0" marL="0">
              <a:buNone/>
            </a:pPr>
            <a:r>
              <a:rPr lang="en-US" sz="2100" b="1" dirty="0">
                <a:solidFill>
                  <a:schemeClr val="tx1"/>
                </a:solidFill>
              </a:rPr>
              <a:t>AI alone isn't trusted</a:t>
            </a:r>
            <a:endParaRPr lang="en-US" sz="1500" dirty="0"/>
          </a:p>
          <a:p>
            <a:pPr indent="0" marL="0">
              <a:buNone/>
            </a:pPr>
            <a:r>
              <a:rPr lang="en-US" sz="800" dirty="0">
                <a:solidFill>
                  <a:schemeClr val="tx1"/>
                </a:solidFill>
              </a:rPr>
              <a:t> </a:t>
            </a:r>
            <a:endParaRPr lang="en-US" sz="1500" dirty="0"/>
          </a:p>
          <a:p>
            <a:pPr indent="0" marL="0">
              <a:buNone/>
            </a:pPr>
            <a:r>
              <a:rPr lang="en-US" sz="1600" dirty="0">
                <a:solidFill>
                  <a:schemeClr val="tx1"/>
                </a:solidFill>
              </a:rPr>
              <a:t>AI can misread a number, invent a quote or raise false alarms. Reviewers need proof.</a:t>
            </a:r>
            <a:endParaRPr lang="en-US" sz="1500" dirty="0"/>
          </a:p>
        </p:txBody>
      </p:sp>
      <p:sp>
        <p:nvSpPr>
          <p:cNvPr id="7" name="goal"/>
          <p:cNvSpPr txBox="1"/>
          <p:nvPr/>
        </p:nvSpPr>
        <p:spPr>
          <a:xfrm>
            <a:off x="548640" y="5120640"/>
            <a:ext cx="11064240" cy="548640"/>
          </a:xfrm>
          <a:prstGeom prst="rect">
            <a:avLst/>
          </a:prstGeom>
          <a:noFill/>
          <a:ln/>
        </p:spPr>
        <p:txBody>
          <a:bodyPr wrap="square" lIns="0" tIns="0" rIns="0" bIns="0" rtlCol="0" anchor="ctr"/>
          <a:lstStyle/>
          <a:p>
            <a:pPr indent="0" marL="0">
              <a:buNone/>
            </a:pPr>
            <a:r>
              <a:rPr lang="en-US" sz="1900" i="1" dirty="0">
                <a:solidFill>
                  <a:schemeClr val="accent1"/>
                </a:solidFill>
              </a:rPr>
              <a:t>We want AI that shows its evidence, and says so when it isn't sure.</a:t>
            </a:r>
            <a:endParaRPr lang="en-US" sz="19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Our idea: split the work, then verify the AI</a:t>
            </a:r>
            <a:endParaRPr lang="en-US" sz="3400" dirty="0"/>
          </a:p>
        </p:txBody>
      </p:sp>
      <p:sp>
        <p:nvSpPr>
          <p:cNvPr id="3" name="idea AI"/>
          <p:cNvSpPr txBox="1"/>
          <p:nvPr/>
        </p:nvSpPr>
        <p:spPr>
          <a:xfrm>
            <a:off x="548640" y="1463040"/>
            <a:ext cx="3520440" cy="2468880"/>
          </a:xfrm>
          <a:prstGeom prst="rect">
            <a:avLst/>
          </a:prstGeom>
          <a:noFill/>
          <a:ln/>
        </p:spPr>
        <p:txBody>
          <a:bodyPr wrap="square" lIns="0" tIns="0" rIns="0" bIns="0" rtlCol="0" anchor="t"/>
          <a:lstStyle/>
          <a:p>
            <a:pPr indent="0" marL="0">
              <a:buNone/>
            </a:pPr>
            <a:r>
              <a:rPr lang="en-US" sz="2600" b="1" dirty="0">
                <a:solidFill>
                  <a:schemeClr val="accent3"/>
                </a:solidFill>
              </a:rPr>
              <a:t>AI</a:t>
            </a:r>
            <a:endParaRPr lang="en-US" sz="2600" dirty="0"/>
          </a:p>
          <a:p>
            <a:pPr indent="0" marL="0">
              <a:buNone/>
            </a:pPr>
            <a:r>
              <a:rPr lang="en-US" sz="2000" b="1" dirty="0">
                <a:solidFill>
                  <a:schemeClr val="tx1"/>
                </a:solidFill>
              </a:rPr>
              <a:t>reads and reasons</a:t>
            </a:r>
            <a:endParaRPr lang="en-US" sz="2600" dirty="0"/>
          </a:p>
          <a:p>
            <a:pPr indent="0" marL="0">
              <a:buNone/>
            </a:pPr>
            <a:r>
              <a:rPr lang="en-US" sz="800" dirty="0">
                <a:solidFill>
                  <a:schemeClr val="tx1"/>
                </a:solidFill>
              </a:rPr>
              <a:t> </a:t>
            </a:r>
            <a:endParaRPr lang="en-US" sz="2600" dirty="0"/>
          </a:p>
          <a:p>
            <a:pPr indent="0" marL="0">
              <a:buNone/>
            </a:pPr>
            <a:r>
              <a:rPr lang="en-US" sz="1600" dirty="0">
                <a:solidFill>
                  <a:schemeClr val="tx1"/>
                </a:solidFill>
              </a:rPr>
              <a:t>Turns the rulebook into testable rules, reads the spec and the artwork, and judges each rule with quoted evidence.</a:t>
            </a:r>
            <a:endParaRPr lang="en-US" sz="2600" dirty="0"/>
          </a:p>
        </p:txBody>
      </p:sp>
      <p:sp>
        <p:nvSpPr>
          <p:cNvPr id="4" name="idea CODE"/>
          <p:cNvSpPr txBox="1"/>
          <p:nvPr/>
        </p:nvSpPr>
        <p:spPr>
          <a:xfrm>
            <a:off x="4343400" y="1463040"/>
            <a:ext cx="3520440" cy="2468880"/>
          </a:xfrm>
          <a:prstGeom prst="rect">
            <a:avLst/>
          </a:prstGeom>
          <a:noFill/>
          <a:ln/>
        </p:spPr>
        <p:txBody>
          <a:bodyPr wrap="square" lIns="0" tIns="0" rIns="0" bIns="0" rtlCol="0" anchor="t"/>
          <a:lstStyle/>
          <a:p>
            <a:pPr indent="0" marL="0">
              <a:buNone/>
            </a:pPr>
            <a:r>
              <a:rPr lang="en-US" sz="2600" b="1" dirty="0">
                <a:solidFill>
                  <a:schemeClr val="accent2"/>
                </a:solidFill>
              </a:rPr>
              <a:t>CODE</a:t>
            </a:r>
            <a:endParaRPr lang="en-US" sz="2600" dirty="0"/>
          </a:p>
          <a:p>
            <a:pPr indent="0" marL="0">
              <a:buNone/>
            </a:pPr>
            <a:r>
              <a:rPr lang="en-US" sz="2000" b="1" dirty="0">
                <a:solidFill>
                  <a:schemeClr val="tx1"/>
                </a:solidFill>
              </a:rPr>
              <a:t>measures and compares</a:t>
            </a:r>
            <a:endParaRPr lang="en-US" sz="2600" dirty="0"/>
          </a:p>
          <a:p>
            <a:pPr indent="0" marL="0">
              <a:buNone/>
            </a:pPr>
            <a:r>
              <a:rPr lang="en-US" sz="800" dirty="0">
                <a:solidFill>
                  <a:schemeClr val="tx1"/>
                </a:solidFill>
              </a:rPr>
              <a:t> </a:t>
            </a:r>
            <a:endParaRPr lang="en-US" sz="2600" dirty="0"/>
          </a:p>
          <a:p>
            <a:pPr indent="0" marL="0">
              <a:buNone/>
            </a:pPr>
            <a:r>
              <a:rPr lang="en-US" sz="1600" dirty="0">
                <a:solidFill>
                  <a:schemeClr val="tx1"/>
                </a:solidFill>
              </a:rPr>
              <a:t>Exact text, positions and sizes from the PDF (OCR for images). Compares quantities, ingredients, nutrition and licence numbers.</a:t>
            </a:r>
            <a:endParaRPr lang="en-US" sz="2600" dirty="0"/>
          </a:p>
        </p:txBody>
      </p:sp>
      <p:sp>
        <p:nvSpPr>
          <p:cNvPr id="5" name="idea TRUST LAYER"/>
          <p:cNvSpPr txBox="1"/>
          <p:nvPr/>
        </p:nvSpPr>
        <p:spPr>
          <a:xfrm>
            <a:off x="8138160" y="1463040"/>
            <a:ext cx="3520440" cy="2468880"/>
          </a:xfrm>
          <a:prstGeom prst="rect">
            <a:avLst/>
          </a:prstGeom>
          <a:noFill/>
          <a:ln/>
        </p:spPr>
        <p:txBody>
          <a:bodyPr wrap="square" lIns="0" tIns="0" rIns="0" bIns="0" rtlCol="0" anchor="t"/>
          <a:lstStyle/>
          <a:p>
            <a:pPr indent="0" marL="0">
              <a:buNone/>
            </a:pPr>
            <a:r>
              <a:rPr lang="en-US" sz="2600" b="1" dirty="0">
                <a:solidFill>
                  <a:schemeClr val="accent1"/>
                </a:solidFill>
              </a:rPr>
              <a:t>TRUST LAYER</a:t>
            </a:r>
            <a:endParaRPr lang="en-US" sz="2600" dirty="0"/>
          </a:p>
          <a:p>
            <a:pPr indent="0" marL="0">
              <a:buNone/>
            </a:pPr>
            <a:r>
              <a:rPr lang="en-US" sz="2000" b="1" dirty="0">
                <a:solidFill>
                  <a:schemeClr val="tx1"/>
                </a:solidFill>
              </a:rPr>
              <a:t>checks the AI</a:t>
            </a:r>
            <a:endParaRPr lang="en-US" sz="2600" dirty="0"/>
          </a:p>
          <a:p>
            <a:pPr indent="0" marL="0">
              <a:buNone/>
            </a:pPr>
            <a:r>
              <a:rPr lang="en-US" sz="800" dirty="0">
                <a:solidFill>
                  <a:schemeClr val="tx1"/>
                </a:solidFill>
              </a:rPr>
              <a:t> </a:t>
            </a:r>
            <a:endParaRPr lang="en-US" sz="2600" dirty="0"/>
          </a:p>
          <a:p>
            <a:pPr indent="0" marL="0">
              <a:buNone/>
            </a:pPr>
            <a:r>
              <a:rPr lang="en-US" sz="1600" dirty="0">
                <a:solidFill>
                  <a:schemeClr val="tx1"/>
                </a:solidFill>
              </a:rPr>
              <a:t>Every AI claim is checked against the artwork and the code. Anything unproven becomes "needs review", with the reason.</a:t>
            </a:r>
            <a:endParaRPr lang="en-US" sz="2600" dirty="0"/>
          </a:p>
        </p:txBody>
      </p:sp>
      <p:sp>
        <p:nvSpPr>
          <p:cNvPr id="6" name="result"/>
          <p:cNvSpPr txBox="1"/>
          <p:nvPr/>
        </p:nvSpPr>
        <p:spPr>
          <a:xfrm>
            <a:off x="548640" y="4160520"/>
            <a:ext cx="11064240" cy="960120"/>
          </a:xfrm>
          <a:prstGeom prst="rect">
            <a:avLst/>
          </a:prstGeom>
          <a:solidFill>
            <a:schemeClr val="bg1"/>
          </a:solidFill>
          <a:ln w="12700">
            <a:solidFill>
              <a:schemeClr val="accent6"/>
            </a:solidFill>
          </a:ln>
        </p:spPr>
        <p:txBody>
          <a:bodyPr wrap="square" lIns="127000" tIns="152400" rIns="152400" bIns="127000" rtlCol="0" anchor="ctr"/>
          <a:lstStyle/>
          <a:p>
            <a:pPr indent="0" marL="0">
              <a:buNone/>
            </a:pPr>
            <a:r>
              <a:rPr lang="en-US" sz="1700" b="1" dirty="0">
                <a:solidFill>
                  <a:schemeClr val="tx1"/>
                </a:solidFill>
              </a:rPr>
              <a:t>Result:  </a:t>
            </a:r>
            <a:pPr indent="0" marL="0">
              <a:buNone/>
            </a:pPr>
            <a:r>
              <a:rPr lang="en-US" sz="1700" dirty="0">
                <a:solidFill>
                  <a:schemeClr val="tx1"/>
                </a:solidFill>
              </a:rPr>
              <a:t>a launch verdict (NOT READY  /  NEEDS REVIEW  /  READY TO PRINT) and every finding with its evidence highlighted on the artwork.</a:t>
            </a:r>
            <a:endParaRPr lang="en-US" sz="17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How it works</a:t>
            </a:r>
            <a:endParaRPr lang="en-US" sz="3400" dirty="0"/>
          </a:p>
        </p:txBody>
      </p:sp>
      <p:sp>
        <p:nvSpPr>
          <p:cNvPr id="3" name="step 1 tag"/>
          <p:cNvSpPr txBox="1"/>
          <p:nvPr/>
        </p:nvSpPr>
        <p:spPr>
          <a:xfrm>
            <a:off x="548640" y="1581912"/>
            <a:ext cx="1417320" cy="292608"/>
          </a:xfrm>
          <a:prstGeom prst="rect">
            <a:avLst/>
          </a:prstGeom>
          <a:noFill/>
          <a:ln/>
        </p:spPr>
        <p:txBody>
          <a:bodyPr wrap="square" lIns="0" tIns="0" rIns="0" bIns="0" rtlCol="0" anchor="ctr"/>
          <a:lstStyle/>
          <a:p>
            <a:pPr algn="ctr" indent="0" marL="0">
              <a:buNone/>
            </a:pPr>
            <a:r>
              <a:rPr lang="en-US" sz="1200" b="1" dirty="0">
                <a:solidFill>
                  <a:schemeClr val="accent4"/>
                </a:solidFill>
              </a:rPr>
              <a:t>INPUT</a:t>
            </a:r>
            <a:endParaRPr lang="en-US" sz="1200" dirty="0"/>
          </a:p>
        </p:txBody>
      </p:sp>
      <p:sp>
        <p:nvSpPr>
          <p:cNvPr id="4" name="step 1"/>
          <p:cNvSpPr txBox="1"/>
          <p:nvPr/>
        </p:nvSpPr>
        <p:spPr>
          <a:xfrm>
            <a:off x="548640" y="1965960"/>
            <a:ext cx="1417320" cy="1874520"/>
          </a:xfrm>
          <a:prstGeom prst="rect">
            <a:avLst/>
          </a:prstGeom>
          <a:solidFill>
            <a:schemeClr val="bg1"/>
          </a:solidFill>
          <a:ln w="19050">
            <a:solidFill>
              <a:schemeClr val="accent4"/>
            </a:solidFill>
          </a:ln>
        </p:spPr>
        <p:txBody>
          <a:bodyPr wrap="square" lIns="101600" tIns="101600" rIns="101600" bIns="101600" rtlCol="0" anchor="t"/>
          <a:lstStyle/>
          <a:p>
            <a:pPr algn="l" indent="0" marL="0">
              <a:buNone/>
            </a:pPr>
            <a:r>
              <a:rPr lang="en-US" sz="1500" b="1" dirty="0">
                <a:solidFill>
                  <a:schemeClr val="tx1"/>
                </a:solidFill>
              </a:rPr>
              <a:t>Inputs</a:t>
            </a:r>
            <a:endParaRPr lang="en-US" sz="1500" dirty="0"/>
          </a:p>
          <a:p>
            <a:pPr algn="l" indent="0" marL="0">
              <a:buNone/>
            </a:pPr>
            <a:r>
              <a:rPr lang="en-US" sz="600" dirty="0">
                <a:solidFill>
                  <a:schemeClr val="tx1"/>
                </a:solidFill>
              </a:rPr>
              <a:t> </a:t>
            </a:r>
            <a:endParaRPr lang="en-US" sz="1500" dirty="0"/>
          </a:p>
          <a:p>
            <a:pPr algn="l" indent="0" marL="0">
              <a:buNone/>
            </a:pPr>
            <a:r>
              <a:rPr lang="en-US" sz="1200" dirty="0">
                <a:solidFill>
                  <a:schemeClr val="tx1"/>
                </a:solidFill>
              </a:rPr>
              <a:t>Artwork (PDF or image)</a:t>
            </a:r>
            <a:endParaRPr lang="en-US" sz="1500" dirty="0"/>
          </a:p>
          <a:p>
            <a:pPr algn="l" indent="0" marL="0">
              <a:buNone/>
            </a:pPr>
            <a:r>
              <a:rPr lang="en-US" sz="1200" dirty="0">
                <a:solidFill>
                  <a:schemeClr val="tx1"/>
                </a:solidFill>
              </a:rPr>
              <a:t>Rulebook</a:t>
            </a:r>
            <a:endParaRPr lang="en-US" sz="1500" dirty="0"/>
          </a:p>
          <a:p>
            <a:pPr algn="l" indent="0" marL="0">
              <a:buNone/>
            </a:pPr>
            <a:r>
              <a:rPr lang="en-US" sz="1200" dirty="0">
                <a:solidFill>
                  <a:schemeClr val="tx1"/>
                </a:solidFill>
              </a:rPr>
              <a:t>Approved spec</a:t>
            </a:r>
            <a:endParaRPr lang="en-US" sz="1500" dirty="0"/>
          </a:p>
        </p:txBody>
      </p:sp>
      <p:sp>
        <p:nvSpPr>
          <p:cNvPr id="5" name="arrow 1"/>
          <p:cNvSpPr/>
          <p:nvPr/>
        </p:nvSpPr>
        <p:spPr>
          <a:xfrm>
            <a:off x="1993392" y="2903220"/>
            <a:ext cx="173736" cy="0"/>
          </a:xfrm>
          <a:prstGeom prst="line">
            <a:avLst/>
          </a:prstGeom>
          <a:noFill/>
          <a:ln w="19050">
            <a:solidFill>
              <a:schemeClr val="accent6"/>
            </a:solidFill>
            <a:prstDash val="solid"/>
            <a:tailEnd type="triangle"/>
          </a:ln>
        </p:spPr>
      </p:sp>
      <p:sp>
        <p:nvSpPr>
          <p:cNvPr id="6" name="step 2 tag"/>
          <p:cNvSpPr txBox="1"/>
          <p:nvPr/>
        </p:nvSpPr>
        <p:spPr>
          <a:xfrm>
            <a:off x="2194560" y="1581912"/>
            <a:ext cx="1417320" cy="292608"/>
          </a:xfrm>
          <a:prstGeom prst="rect">
            <a:avLst/>
          </a:prstGeom>
          <a:noFill/>
          <a:ln/>
        </p:spPr>
        <p:txBody>
          <a:bodyPr wrap="square" lIns="0" tIns="0" rIns="0" bIns="0" rtlCol="0" anchor="ctr"/>
          <a:lstStyle/>
          <a:p>
            <a:pPr algn="ctr" indent="0" marL="0">
              <a:buNone/>
            </a:pPr>
            <a:r>
              <a:rPr lang="en-US" sz="1200" b="1" dirty="0">
                <a:solidFill>
                  <a:schemeClr val="accent2"/>
                </a:solidFill>
              </a:rPr>
              <a:t>CODE</a:t>
            </a:r>
            <a:endParaRPr lang="en-US" sz="1200" dirty="0"/>
          </a:p>
        </p:txBody>
      </p:sp>
      <p:sp>
        <p:nvSpPr>
          <p:cNvPr id="7" name="step 2"/>
          <p:cNvSpPr txBox="1"/>
          <p:nvPr/>
        </p:nvSpPr>
        <p:spPr>
          <a:xfrm>
            <a:off x="2194560" y="1965960"/>
            <a:ext cx="1417320" cy="1874520"/>
          </a:xfrm>
          <a:prstGeom prst="rect">
            <a:avLst/>
          </a:prstGeom>
          <a:solidFill>
            <a:schemeClr val="bg1"/>
          </a:solidFill>
          <a:ln w="19050">
            <a:solidFill>
              <a:schemeClr val="accent2"/>
            </a:solidFill>
          </a:ln>
        </p:spPr>
        <p:txBody>
          <a:bodyPr wrap="square" lIns="101600" tIns="101600" rIns="101600" bIns="101600" rtlCol="0" anchor="t"/>
          <a:lstStyle/>
          <a:p>
            <a:pPr algn="l" indent="0" marL="0">
              <a:buNone/>
            </a:pPr>
            <a:r>
              <a:rPr lang="en-US" sz="1500" b="1" dirty="0">
                <a:solidFill>
                  <a:schemeClr val="tx1"/>
                </a:solidFill>
              </a:rPr>
              <a:t>Read files</a:t>
            </a:r>
            <a:endParaRPr lang="en-US" sz="1500" dirty="0"/>
          </a:p>
          <a:p>
            <a:pPr algn="l" indent="0" marL="0">
              <a:buNone/>
            </a:pPr>
            <a:r>
              <a:rPr lang="en-US" sz="600" dirty="0">
                <a:solidFill>
                  <a:schemeClr val="tx1"/>
                </a:solidFill>
              </a:rPr>
              <a:t> </a:t>
            </a:r>
            <a:endParaRPr lang="en-US" sz="1500" dirty="0"/>
          </a:p>
          <a:p>
            <a:pPr algn="l" indent="0" marL="0">
              <a:buNone/>
            </a:pPr>
            <a:r>
              <a:rPr lang="en-US" sz="1200" dirty="0">
                <a:solidFill>
                  <a:schemeClr val="tx1"/>
                </a:solidFill>
              </a:rPr>
              <a:t>PDF text with exact positions and sizes</a:t>
            </a:r>
            <a:endParaRPr lang="en-US" sz="1500" dirty="0"/>
          </a:p>
          <a:p>
            <a:pPr algn="l" indent="0" marL="0">
              <a:buNone/>
            </a:pPr>
            <a:r>
              <a:rPr lang="en-US" sz="1200" dirty="0">
                <a:solidFill>
                  <a:schemeClr val="tx1"/>
                </a:solidFill>
              </a:rPr>
              <a:t>OCR for images</a:t>
            </a:r>
            <a:endParaRPr lang="en-US" sz="1500" dirty="0"/>
          </a:p>
        </p:txBody>
      </p:sp>
      <p:sp>
        <p:nvSpPr>
          <p:cNvPr id="8" name="arrow 2"/>
          <p:cNvSpPr/>
          <p:nvPr/>
        </p:nvSpPr>
        <p:spPr>
          <a:xfrm>
            <a:off x="3639312" y="2903220"/>
            <a:ext cx="173736" cy="0"/>
          </a:xfrm>
          <a:prstGeom prst="line">
            <a:avLst/>
          </a:prstGeom>
          <a:noFill/>
          <a:ln w="19050">
            <a:solidFill>
              <a:schemeClr val="accent6"/>
            </a:solidFill>
            <a:prstDash val="solid"/>
            <a:tailEnd type="triangle"/>
          </a:ln>
        </p:spPr>
      </p:sp>
      <p:sp>
        <p:nvSpPr>
          <p:cNvPr id="9" name="step 3 tag"/>
          <p:cNvSpPr txBox="1"/>
          <p:nvPr/>
        </p:nvSpPr>
        <p:spPr>
          <a:xfrm>
            <a:off x="3840480" y="1581912"/>
            <a:ext cx="1417320" cy="292608"/>
          </a:xfrm>
          <a:prstGeom prst="rect">
            <a:avLst/>
          </a:prstGeom>
          <a:noFill/>
          <a:ln/>
        </p:spPr>
        <p:txBody>
          <a:bodyPr wrap="square" lIns="0" tIns="0" rIns="0" bIns="0" rtlCol="0" anchor="ctr"/>
          <a:lstStyle/>
          <a:p>
            <a:pPr algn="ctr" indent="0" marL="0">
              <a:buNone/>
            </a:pPr>
            <a:r>
              <a:rPr lang="en-US" sz="1200" b="1" dirty="0">
                <a:solidFill>
                  <a:schemeClr val="accent3"/>
                </a:solidFill>
              </a:rPr>
              <a:t>AI</a:t>
            </a:r>
            <a:endParaRPr lang="en-US" sz="1200" dirty="0"/>
          </a:p>
        </p:txBody>
      </p:sp>
      <p:sp>
        <p:nvSpPr>
          <p:cNvPr id="10" name="step 3"/>
          <p:cNvSpPr txBox="1"/>
          <p:nvPr/>
        </p:nvSpPr>
        <p:spPr>
          <a:xfrm>
            <a:off x="3840480" y="1965960"/>
            <a:ext cx="1417320" cy="1874520"/>
          </a:xfrm>
          <a:prstGeom prst="rect">
            <a:avLst/>
          </a:prstGeom>
          <a:solidFill>
            <a:schemeClr val="bg1"/>
          </a:solidFill>
          <a:ln w="19050">
            <a:solidFill>
              <a:schemeClr val="accent3"/>
            </a:solidFill>
          </a:ln>
        </p:spPr>
        <p:txBody>
          <a:bodyPr wrap="square" lIns="101600" tIns="101600" rIns="101600" bIns="101600" rtlCol="0" anchor="t"/>
          <a:lstStyle/>
          <a:p>
            <a:pPr algn="l" indent="0" marL="0">
              <a:buNone/>
            </a:pPr>
            <a:r>
              <a:rPr lang="en-US" sz="1500" b="1" dirty="0">
                <a:solidFill>
                  <a:schemeClr val="tx1"/>
                </a:solidFill>
              </a:rPr>
              <a:t>Understand</a:t>
            </a:r>
            <a:endParaRPr lang="en-US" sz="1500" dirty="0"/>
          </a:p>
          <a:p>
            <a:pPr algn="l" indent="0" marL="0">
              <a:buNone/>
            </a:pPr>
            <a:r>
              <a:rPr lang="en-US" sz="600" dirty="0">
                <a:solidFill>
                  <a:schemeClr val="tx1"/>
                </a:solidFill>
              </a:rPr>
              <a:t> </a:t>
            </a:r>
            <a:endParaRPr lang="en-US" sz="1500" dirty="0"/>
          </a:p>
          <a:p>
            <a:pPr algn="l" indent="0" marL="0">
              <a:buNone/>
            </a:pPr>
            <a:r>
              <a:rPr lang="en-US" sz="1200" dirty="0">
                <a:solidFill>
                  <a:schemeClr val="tx1"/>
                </a:solidFill>
              </a:rPr>
              <a:t>Rules to checklist</a:t>
            </a:r>
            <a:endParaRPr lang="en-US" sz="1500" dirty="0"/>
          </a:p>
          <a:p>
            <a:pPr algn="l" indent="0" marL="0">
              <a:buNone/>
            </a:pPr>
            <a:r>
              <a:rPr lang="en-US" sz="1200" dirty="0">
                <a:solidFill>
                  <a:schemeClr val="tx1"/>
                </a:solidFill>
              </a:rPr>
              <a:t>Spec to facts</a:t>
            </a:r>
            <a:endParaRPr lang="en-US" sz="1500" dirty="0"/>
          </a:p>
          <a:p>
            <a:pPr algn="l" indent="0" marL="0">
              <a:buNone/>
            </a:pPr>
            <a:r>
              <a:rPr lang="en-US" sz="1200" dirty="0">
                <a:solidFill>
                  <a:schemeClr val="tx1"/>
                </a:solidFill>
              </a:rPr>
              <a:t>Artwork to elements</a:t>
            </a:r>
            <a:endParaRPr lang="en-US" sz="1500" dirty="0"/>
          </a:p>
          <a:p>
            <a:pPr algn="l" indent="0" marL="0">
              <a:buNone/>
            </a:pPr>
            <a:r>
              <a:rPr lang="en-US" sz="1200" dirty="0">
                <a:solidFill>
                  <a:schemeClr val="tx1"/>
                </a:solidFill>
              </a:rPr>
              <a:t>(in parallel)</a:t>
            </a:r>
            <a:endParaRPr lang="en-US" sz="1500" dirty="0"/>
          </a:p>
        </p:txBody>
      </p:sp>
      <p:sp>
        <p:nvSpPr>
          <p:cNvPr id="11" name="arrow 3"/>
          <p:cNvSpPr/>
          <p:nvPr/>
        </p:nvSpPr>
        <p:spPr>
          <a:xfrm>
            <a:off x="5285232" y="2903220"/>
            <a:ext cx="173736" cy="0"/>
          </a:xfrm>
          <a:prstGeom prst="line">
            <a:avLst/>
          </a:prstGeom>
          <a:noFill/>
          <a:ln w="19050">
            <a:solidFill>
              <a:schemeClr val="accent6"/>
            </a:solidFill>
            <a:prstDash val="solid"/>
            <a:tailEnd type="triangle"/>
          </a:ln>
        </p:spPr>
      </p:sp>
      <p:sp>
        <p:nvSpPr>
          <p:cNvPr id="12" name="step 4 tag"/>
          <p:cNvSpPr txBox="1"/>
          <p:nvPr/>
        </p:nvSpPr>
        <p:spPr>
          <a:xfrm>
            <a:off x="5486400" y="1581912"/>
            <a:ext cx="1417320" cy="292608"/>
          </a:xfrm>
          <a:prstGeom prst="rect">
            <a:avLst/>
          </a:prstGeom>
          <a:noFill/>
          <a:ln/>
        </p:spPr>
        <p:txBody>
          <a:bodyPr wrap="square" lIns="0" tIns="0" rIns="0" bIns="0" rtlCol="0" anchor="ctr"/>
          <a:lstStyle/>
          <a:p>
            <a:pPr algn="ctr" indent="0" marL="0">
              <a:buNone/>
            </a:pPr>
            <a:r>
              <a:rPr lang="en-US" sz="1200" b="1" dirty="0">
                <a:solidFill>
                  <a:schemeClr val="accent2"/>
                </a:solidFill>
              </a:rPr>
              <a:t>CODE</a:t>
            </a:r>
            <a:endParaRPr lang="en-US" sz="1200" dirty="0"/>
          </a:p>
        </p:txBody>
      </p:sp>
      <p:sp>
        <p:nvSpPr>
          <p:cNvPr id="13" name="step 4"/>
          <p:cNvSpPr txBox="1"/>
          <p:nvPr/>
        </p:nvSpPr>
        <p:spPr>
          <a:xfrm>
            <a:off x="5486400" y="1965960"/>
            <a:ext cx="1417320" cy="1874520"/>
          </a:xfrm>
          <a:prstGeom prst="rect">
            <a:avLst/>
          </a:prstGeom>
          <a:solidFill>
            <a:schemeClr val="bg1"/>
          </a:solidFill>
          <a:ln w="19050">
            <a:solidFill>
              <a:schemeClr val="accent2"/>
            </a:solidFill>
          </a:ln>
        </p:spPr>
        <p:txBody>
          <a:bodyPr wrap="square" lIns="101600" tIns="101600" rIns="101600" bIns="101600" rtlCol="0" anchor="t"/>
          <a:lstStyle/>
          <a:p>
            <a:pPr algn="l" indent="0" marL="0">
              <a:buNone/>
            </a:pPr>
            <a:r>
              <a:rPr lang="en-US" sz="1500" b="1" dirty="0">
                <a:solidFill>
                  <a:schemeClr val="tx1"/>
                </a:solidFill>
              </a:rPr>
              <a:t>Cross-check</a:t>
            </a:r>
            <a:endParaRPr lang="en-US" sz="1500" dirty="0"/>
          </a:p>
          <a:p>
            <a:pPr algn="l" indent="0" marL="0">
              <a:buNone/>
            </a:pPr>
            <a:r>
              <a:rPr lang="en-US" sz="600" dirty="0">
                <a:solidFill>
                  <a:schemeClr val="tx1"/>
                </a:solidFill>
              </a:rPr>
              <a:t> </a:t>
            </a:r>
            <a:endParaRPr lang="en-US" sz="1500" dirty="0"/>
          </a:p>
          <a:p>
            <a:pPr algn="l" indent="0" marL="0">
              <a:buNone/>
            </a:pPr>
            <a:r>
              <a:rPr lang="en-US" sz="1200" dirty="0">
                <a:solidFill>
                  <a:schemeClr val="tx1"/>
                </a:solidFill>
              </a:rPr>
              <a:t>Compare with the spec</a:t>
            </a:r>
            <a:endParaRPr lang="en-US" sz="1500" dirty="0"/>
          </a:p>
          <a:p>
            <a:pPr algn="l" indent="0" marL="0">
              <a:buNone/>
            </a:pPr>
            <a:r>
              <a:rPr lang="en-US" sz="1200" dirty="0">
                <a:solidFill>
                  <a:schemeClr val="tx1"/>
                </a:solidFill>
              </a:rPr>
              <a:t>Measure text in mm</a:t>
            </a:r>
            <a:endParaRPr lang="en-US" sz="1500" dirty="0"/>
          </a:p>
        </p:txBody>
      </p:sp>
      <p:sp>
        <p:nvSpPr>
          <p:cNvPr id="14" name="arrow 4"/>
          <p:cNvSpPr/>
          <p:nvPr/>
        </p:nvSpPr>
        <p:spPr>
          <a:xfrm>
            <a:off x="6931152" y="2903220"/>
            <a:ext cx="173736" cy="0"/>
          </a:xfrm>
          <a:prstGeom prst="line">
            <a:avLst/>
          </a:prstGeom>
          <a:noFill/>
          <a:ln w="19050">
            <a:solidFill>
              <a:schemeClr val="accent6"/>
            </a:solidFill>
            <a:prstDash val="solid"/>
            <a:tailEnd type="triangle"/>
          </a:ln>
        </p:spPr>
      </p:sp>
      <p:sp>
        <p:nvSpPr>
          <p:cNvPr id="15" name="step 5 tag"/>
          <p:cNvSpPr txBox="1"/>
          <p:nvPr/>
        </p:nvSpPr>
        <p:spPr>
          <a:xfrm>
            <a:off x="7132320" y="1581912"/>
            <a:ext cx="1417320" cy="292608"/>
          </a:xfrm>
          <a:prstGeom prst="rect">
            <a:avLst/>
          </a:prstGeom>
          <a:noFill/>
          <a:ln/>
        </p:spPr>
        <p:txBody>
          <a:bodyPr wrap="square" lIns="0" tIns="0" rIns="0" bIns="0" rtlCol="0" anchor="ctr"/>
          <a:lstStyle/>
          <a:p>
            <a:pPr algn="ctr" indent="0" marL="0">
              <a:buNone/>
            </a:pPr>
            <a:r>
              <a:rPr lang="en-US" sz="1200" b="1" dirty="0">
                <a:solidFill>
                  <a:schemeClr val="accent3"/>
                </a:solidFill>
              </a:rPr>
              <a:t>AI</a:t>
            </a:r>
            <a:endParaRPr lang="en-US" sz="1200" dirty="0"/>
          </a:p>
        </p:txBody>
      </p:sp>
      <p:sp>
        <p:nvSpPr>
          <p:cNvPr id="16" name="step 5"/>
          <p:cNvSpPr txBox="1"/>
          <p:nvPr/>
        </p:nvSpPr>
        <p:spPr>
          <a:xfrm>
            <a:off x="7132320" y="1965960"/>
            <a:ext cx="1417320" cy="1874520"/>
          </a:xfrm>
          <a:prstGeom prst="rect">
            <a:avLst/>
          </a:prstGeom>
          <a:solidFill>
            <a:schemeClr val="bg1"/>
          </a:solidFill>
          <a:ln w="19050">
            <a:solidFill>
              <a:schemeClr val="accent3"/>
            </a:solidFill>
          </a:ln>
        </p:spPr>
        <p:txBody>
          <a:bodyPr wrap="square" lIns="101600" tIns="101600" rIns="101600" bIns="101600" rtlCol="0" anchor="t"/>
          <a:lstStyle/>
          <a:p>
            <a:pPr algn="l" indent="0" marL="0">
              <a:buNone/>
            </a:pPr>
            <a:r>
              <a:rPr lang="en-US" sz="1500" b="1" dirty="0">
                <a:solidFill>
                  <a:schemeClr val="tx1"/>
                </a:solidFill>
              </a:rPr>
              <a:t>Judge each rule</a:t>
            </a:r>
            <a:endParaRPr lang="en-US" sz="1500" dirty="0"/>
          </a:p>
          <a:p>
            <a:pPr algn="l" indent="0" marL="0">
              <a:buNone/>
            </a:pPr>
            <a:r>
              <a:rPr lang="en-US" sz="600" dirty="0">
                <a:solidFill>
                  <a:schemeClr val="tx1"/>
                </a:solidFill>
              </a:rPr>
              <a:t> </a:t>
            </a:r>
            <a:endParaRPr lang="en-US" sz="1500" dirty="0"/>
          </a:p>
          <a:p>
            <a:pPr algn="l" indent="0" marL="0">
              <a:buNone/>
            </a:pPr>
            <a:r>
              <a:rPr lang="en-US" sz="1200" dirty="0">
                <a:solidFill>
                  <a:schemeClr val="tx1"/>
                </a:solidFill>
              </a:rPr>
              <a:t>PASS, FAIL or REVIEW</a:t>
            </a:r>
            <a:endParaRPr lang="en-US" sz="1500" dirty="0"/>
          </a:p>
          <a:p>
            <a:pPr algn="l" indent="0" marL="0">
              <a:buNone/>
            </a:pPr>
            <a:r>
              <a:rPr lang="en-US" sz="1200" dirty="0">
                <a:solidFill>
                  <a:schemeClr val="tx1"/>
                </a:solidFill>
              </a:rPr>
              <a:t>Confidence</a:t>
            </a:r>
            <a:endParaRPr lang="en-US" sz="1500" dirty="0"/>
          </a:p>
          <a:p>
            <a:pPr algn="l" indent="0" marL="0">
              <a:buNone/>
            </a:pPr>
            <a:r>
              <a:rPr lang="en-US" sz="1200" dirty="0">
                <a:solidFill>
                  <a:schemeClr val="tx1"/>
                </a:solidFill>
              </a:rPr>
              <a:t>Quoted evidence</a:t>
            </a:r>
            <a:endParaRPr lang="en-US" sz="1500" dirty="0"/>
          </a:p>
        </p:txBody>
      </p:sp>
      <p:sp>
        <p:nvSpPr>
          <p:cNvPr id="17" name="arrow 5"/>
          <p:cNvSpPr/>
          <p:nvPr/>
        </p:nvSpPr>
        <p:spPr>
          <a:xfrm>
            <a:off x="8577072" y="2903220"/>
            <a:ext cx="173736" cy="0"/>
          </a:xfrm>
          <a:prstGeom prst="line">
            <a:avLst/>
          </a:prstGeom>
          <a:noFill/>
          <a:ln w="19050">
            <a:solidFill>
              <a:schemeClr val="accent6"/>
            </a:solidFill>
            <a:prstDash val="solid"/>
            <a:tailEnd type="triangle"/>
          </a:ln>
        </p:spPr>
      </p:sp>
      <p:sp>
        <p:nvSpPr>
          <p:cNvPr id="18" name="step 6 tag"/>
          <p:cNvSpPr txBox="1"/>
          <p:nvPr/>
        </p:nvSpPr>
        <p:spPr>
          <a:xfrm>
            <a:off x="8778240" y="1581912"/>
            <a:ext cx="1417320" cy="292608"/>
          </a:xfrm>
          <a:prstGeom prst="rect">
            <a:avLst/>
          </a:prstGeom>
          <a:noFill/>
          <a:ln/>
        </p:spPr>
        <p:txBody>
          <a:bodyPr wrap="square" lIns="0" tIns="0" rIns="0" bIns="0" rtlCol="0" anchor="ctr"/>
          <a:lstStyle/>
          <a:p>
            <a:pPr algn="ctr" indent="0" marL="0">
              <a:buNone/>
            </a:pPr>
            <a:r>
              <a:rPr lang="en-US" sz="1200" b="1" dirty="0">
                <a:solidFill>
                  <a:schemeClr val="accent1"/>
                </a:solidFill>
              </a:rPr>
              <a:t>TRUST</a:t>
            </a:r>
            <a:endParaRPr lang="en-US" sz="1200" dirty="0"/>
          </a:p>
        </p:txBody>
      </p:sp>
      <p:sp>
        <p:nvSpPr>
          <p:cNvPr id="19" name="step 6"/>
          <p:cNvSpPr txBox="1"/>
          <p:nvPr/>
        </p:nvSpPr>
        <p:spPr>
          <a:xfrm>
            <a:off x="8778240" y="1965960"/>
            <a:ext cx="1417320" cy="1874520"/>
          </a:xfrm>
          <a:prstGeom prst="rect">
            <a:avLst/>
          </a:prstGeom>
          <a:solidFill>
            <a:schemeClr val="bg1"/>
          </a:solidFill>
          <a:ln w="19050">
            <a:solidFill>
              <a:schemeClr val="accent1"/>
            </a:solidFill>
          </a:ln>
        </p:spPr>
        <p:txBody>
          <a:bodyPr wrap="square" lIns="101600" tIns="101600" rIns="101600" bIns="101600" rtlCol="0" anchor="t"/>
          <a:lstStyle/>
          <a:p>
            <a:pPr algn="l" indent="0" marL="0">
              <a:buNone/>
            </a:pPr>
            <a:r>
              <a:rPr lang="en-US" sz="1500" b="1" dirty="0">
                <a:solidFill>
                  <a:schemeClr val="tx1"/>
                </a:solidFill>
              </a:rPr>
              <a:t>Verify the AI</a:t>
            </a:r>
            <a:endParaRPr lang="en-US" sz="1500" dirty="0"/>
          </a:p>
          <a:p>
            <a:pPr algn="l" indent="0" marL="0">
              <a:buNone/>
            </a:pPr>
            <a:r>
              <a:rPr lang="en-US" sz="600" dirty="0">
                <a:solidFill>
                  <a:schemeClr val="tx1"/>
                </a:solidFill>
              </a:rPr>
              <a:t> </a:t>
            </a:r>
            <a:endParaRPr lang="en-US" sz="1500" dirty="0"/>
          </a:p>
          <a:p>
            <a:pPr algn="l" indent="0" marL="0">
              <a:buNone/>
            </a:pPr>
            <a:r>
              <a:rPr lang="en-US" sz="1200" dirty="0">
                <a:solidFill>
                  <a:schemeClr val="tx1"/>
                </a:solidFill>
              </a:rPr>
              <a:t>Find quotes on the artwork</a:t>
            </a:r>
            <a:endParaRPr lang="en-US" sz="1500" dirty="0"/>
          </a:p>
          <a:p>
            <a:pPr algn="l" indent="0" marL="0">
              <a:buNone/>
            </a:pPr>
            <a:r>
              <a:rPr lang="en-US" sz="1200" dirty="0">
                <a:solidFill>
                  <a:schemeClr val="tx1"/>
                </a:solidFill>
              </a:rPr>
              <a:t>Re-check "missing"</a:t>
            </a:r>
            <a:endParaRPr lang="en-US" sz="1500" dirty="0"/>
          </a:p>
          <a:p>
            <a:pPr algn="l" indent="0" marL="0">
              <a:buNone/>
            </a:pPr>
            <a:r>
              <a:rPr lang="en-US" sz="1200" dirty="0">
                <a:solidFill>
                  <a:schemeClr val="tx1"/>
                </a:solidFill>
              </a:rPr>
              <a:t>Code wins on values</a:t>
            </a:r>
            <a:endParaRPr lang="en-US" sz="1500" dirty="0"/>
          </a:p>
        </p:txBody>
      </p:sp>
      <p:sp>
        <p:nvSpPr>
          <p:cNvPr id="20" name="arrow 6"/>
          <p:cNvSpPr/>
          <p:nvPr/>
        </p:nvSpPr>
        <p:spPr>
          <a:xfrm>
            <a:off x="10222992" y="2903220"/>
            <a:ext cx="173736" cy="0"/>
          </a:xfrm>
          <a:prstGeom prst="line">
            <a:avLst/>
          </a:prstGeom>
          <a:noFill/>
          <a:ln w="19050">
            <a:solidFill>
              <a:schemeClr val="accent6"/>
            </a:solidFill>
            <a:prstDash val="solid"/>
            <a:tailEnd type="triangle"/>
          </a:ln>
        </p:spPr>
      </p:sp>
      <p:sp>
        <p:nvSpPr>
          <p:cNvPr id="21" name="step 7 tag"/>
          <p:cNvSpPr txBox="1"/>
          <p:nvPr/>
        </p:nvSpPr>
        <p:spPr>
          <a:xfrm>
            <a:off x="10424160" y="1581912"/>
            <a:ext cx="1417320" cy="292608"/>
          </a:xfrm>
          <a:prstGeom prst="rect">
            <a:avLst/>
          </a:prstGeom>
          <a:noFill/>
          <a:ln/>
        </p:spPr>
        <p:txBody>
          <a:bodyPr wrap="square" lIns="0" tIns="0" rIns="0" bIns="0" rtlCol="0" anchor="ctr"/>
          <a:lstStyle/>
          <a:p>
            <a:pPr algn="ctr" indent="0" marL="0">
              <a:buNone/>
            </a:pPr>
            <a:r>
              <a:rPr lang="en-US" sz="1200" b="1" dirty="0">
                <a:solidFill>
                  <a:schemeClr val="accent4"/>
                </a:solidFill>
              </a:rPr>
              <a:t>OUTPUT</a:t>
            </a:r>
            <a:endParaRPr lang="en-US" sz="1200" dirty="0"/>
          </a:p>
        </p:txBody>
      </p:sp>
      <p:sp>
        <p:nvSpPr>
          <p:cNvPr id="22" name="step 7"/>
          <p:cNvSpPr txBox="1"/>
          <p:nvPr/>
        </p:nvSpPr>
        <p:spPr>
          <a:xfrm>
            <a:off x="10424160" y="1965960"/>
            <a:ext cx="1417320" cy="1874520"/>
          </a:xfrm>
          <a:prstGeom prst="rect">
            <a:avLst/>
          </a:prstGeom>
          <a:solidFill>
            <a:schemeClr val="bg1"/>
          </a:solidFill>
          <a:ln w="19050">
            <a:solidFill>
              <a:schemeClr val="accent4"/>
            </a:solidFill>
          </a:ln>
        </p:spPr>
        <p:txBody>
          <a:bodyPr wrap="square" lIns="101600" tIns="101600" rIns="101600" bIns="101600" rtlCol="0" anchor="t"/>
          <a:lstStyle/>
          <a:p>
            <a:pPr algn="l" indent="0" marL="0">
              <a:buNone/>
            </a:pPr>
            <a:r>
              <a:rPr lang="en-US" sz="1500" b="1" dirty="0">
                <a:solidFill>
                  <a:schemeClr val="tx1"/>
                </a:solidFill>
              </a:rPr>
              <a:t>Reviewer</a:t>
            </a:r>
            <a:endParaRPr lang="en-US" sz="1500" dirty="0"/>
          </a:p>
          <a:p>
            <a:pPr algn="l" indent="0" marL="0">
              <a:buNone/>
            </a:pPr>
            <a:r>
              <a:rPr lang="en-US" sz="600" dirty="0">
                <a:solidFill>
                  <a:schemeClr val="tx1"/>
                </a:solidFill>
              </a:rPr>
              <a:t> </a:t>
            </a:r>
            <a:endParaRPr lang="en-US" sz="1500" dirty="0"/>
          </a:p>
          <a:p>
            <a:pPr algn="l" indent="0" marL="0">
              <a:buNone/>
            </a:pPr>
            <a:r>
              <a:rPr lang="en-US" sz="1200" dirty="0">
                <a:solidFill>
                  <a:schemeClr val="tx1"/>
                </a:solidFill>
              </a:rPr>
              <a:t>Launch verdict</a:t>
            </a:r>
            <a:endParaRPr lang="en-US" sz="1500" dirty="0"/>
          </a:p>
          <a:p>
            <a:pPr algn="l" indent="0" marL="0">
              <a:buNone/>
            </a:pPr>
            <a:r>
              <a:rPr lang="en-US" sz="1200" dirty="0">
                <a:solidFill>
                  <a:schemeClr val="tx1"/>
                </a:solidFill>
              </a:rPr>
              <a:t>Evidence on artwork</a:t>
            </a:r>
            <a:endParaRPr lang="en-US" sz="1500" dirty="0"/>
          </a:p>
          <a:p>
            <a:pPr algn="l" indent="0" marL="0">
              <a:buNone/>
            </a:pPr>
            <a:r>
              <a:rPr lang="en-US" sz="1200" dirty="0">
                <a:solidFill>
                  <a:schemeClr val="tx1"/>
                </a:solidFill>
              </a:rPr>
              <a:t>Confirm or dismiss</a:t>
            </a:r>
            <a:endParaRPr lang="en-US" sz="1500" dirty="0"/>
          </a:p>
          <a:p>
            <a:pPr algn="l" indent="0" marL="0">
              <a:buNone/>
            </a:pPr>
            <a:r>
              <a:rPr lang="en-US" sz="1200" dirty="0">
                <a:solidFill>
                  <a:schemeClr val="tx1"/>
                </a:solidFill>
              </a:rPr>
              <a:t>Report</a:t>
            </a:r>
            <a:endParaRPr lang="en-US" sz="1500" dirty="0"/>
          </a:p>
        </p:txBody>
      </p:sp>
      <p:sp>
        <p:nvSpPr>
          <p:cNvPr id="23" name="legend"/>
          <p:cNvSpPr txBox="1"/>
          <p:nvPr/>
        </p:nvSpPr>
        <p:spPr>
          <a:xfrm>
            <a:off x="548640" y="4343400"/>
            <a:ext cx="11064240" cy="365760"/>
          </a:xfrm>
          <a:prstGeom prst="rect">
            <a:avLst/>
          </a:prstGeom>
          <a:noFill/>
          <a:ln/>
        </p:spPr>
        <p:txBody>
          <a:bodyPr wrap="square" lIns="0" tIns="0" rIns="0" bIns="0" rtlCol="0" anchor="ctr"/>
          <a:lstStyle/>
          <a:p>
            <a:pPr indent="0" marL="0">
              <a:buNone/>
            </a:pPr>
            <a:r>
              <a:rPr lang="en-US" sz="1400" b="1" dirty="0">
                <a:solidFill>
                  <a:schemeClr val="accent3"/>
                </a:solidFill>
              </a:rPr>
              <a:t>AI</a:t>
            </a:r>
            <a:pPr indent="0" marL="0">
              <a:buNone/>
            </a:pPr>
            <a:r>
              <a:rPr lang="en-US" sz="1400" dirty="0">
                <a:solidFill>
                  <a:schemeClr val="tx1"/>
                </a:solidFill>
              </a:rPr>
              <a:t> = Gemini 3.8 Flash (Claude Opus 5.5 optional)     </a:t>
            </a:r>
            <a:pPr indent="0" marL="0">
              <a:buNone/>
            </a:pPr>
            <a:r>
              <a:rPr lang="en-US" sz="1400" b="1" dirty="0">
                <a:solidFill>
                  <a:schemeClr val="accent2"/>
                </a:solidFill>
              </a:rPr>
              <a:t>CODE</a:t>
            </a:r>
            <a:pPr indent="0" marL="0">
              <a:buNone/>
            </a:pPr>
            <a:r>
              <a:rPr lang="en-US" sz="1400" dirty="0">
                <a:solidFill>
                  <a:schemeClr val="tx1"/>
                </a:solidFill>
              </a:rPr>
              <a:t> = plain Python, no AI     </a:t>
            </a:r>
            <a:pPr indent="0" marL="0">
              <a:buNone/>
            </a:pPr>
            <a:r>
              <a:rPr lang="en-US" sz="1400" b="1" dirty="0">
                <a:solidFill>
                  <a:schemeClr val="accent1"/>
                </a:solidFill>
              </a:rPr>
              <a:t>TRUST</a:t>
            </a:r>
            <a:pPr indent="0" marL="0">
              <a:buNone/>
            </a:pPr>
            <a:r>
              <a:rPr lang="en-US" sz="1400" dirty="0">
                <a:solidFill>
                  <a:schemeClr val="tx1"/>
                </a:solidFill>
              </a:rPr>
              <a:t> = checks every AI answer</a:t>
            </a:r>
            <a:endParaRPr lang="en-US" sz="1400" dirty="0"/>
          </a:p>
        </p:txBody>
      </p:sp>
      <p:sp>
        <p:nvSpPr>
          <p:cNvPr id="24" name="schema note"/>
          <p:cNvSpPr txBox="1"/>
          <p:nvPr/>
        </p:nvSpPr>
        <p:spPr>
          <a:xfrm>
            <a:off x="548640" y="4800600"/>
            <a:ext cx="11064240" cy="365760"/>
          </a:xfrm>
          <a:prstGeom prst="rect">
            <a:avLst/>
          </a:prstGeom>
          <a:noFill/>
          <a:ln/>
        </p:spPr>
        <p:txBody>
          <a:bodyPr wrap="square" lIns="0" tIns="0" rIns="0" bIns="0" rtlCol="0" anchor="ctr"/>
          <a:lstStyle/>
          <a:p>
            <a:pPr indent="0" marL="0">
              <a:buNone/>
            </a:pPr>
            <a:r>
              <a:rPr lang="en-US" sz="1400" dirty="0">
                <a:solidFill>
                  <a:schemeClr val="accent6"/>
                </a:solidFill>
              </a:rPr>
              <a:t>Every AI answer must match a fixed JSON schema (structured outputs), so each claim can be checked by code.</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When the AI is wrong, LabelGuard catches it</a:t>
            </a:r>
            <a:endParaRPr lang="en-US" sz="3400" dirty="0"/>
          </a:p>
        </p:txBody>
      </p:sp>
      <p:graphicFrame>
        <p:nvGraphicFramePr>
          <p:cNvPr id="6" name="trust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7772400"/>
              </a:tblGrid>
              <a:tr h="566928">
                <a:tc>
                  <a:txBody>
                    <a:bodyPr/>
                    <a:lstStyle/>
                    <a:p>
                      <a:pPr indent="0" marL="0">
                        <a:buNone/>
                      </a:pPr>
                      <a:r>
                        <a:rPr lang="en-US" sz="1600" b="1" dirty="0">
                          <a:solidFill>
                            <a:schemeClr val="tx1"/>
                          </a:solidFill>
                        </a:rPr>
                        <a:t>If the AI...</a:t>
                      </a:r>
                      <a:endParaRPr lang="en-US" sz="16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1600" b="1" dirty="0">
                          <a:solidFill>
                            <a:schemeClr val="tx1"/>
                          </a:solidFill>
                        </a:rPr>
                        <a:t>LabelGuard...</a:t>
                      </a:r>
                      <a:endParaRPr lang="en-US" sz="16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566928">
                <a:tc>
                  <a:txBody>
                    <a:bodyPr/>
                    <a:lstStyle/>
                    <a:p>
                      <a:pPr indent="0" marL="0">
                        <a:buNone/>
                      </a:pPr>
                      <a:r>
                        <a:rPr lang="en-US" sz="1500" b="1" dirty="0">
                          <a:solidFill>
                            <a:schemeClr val="tx1"/>
                          </a:solidFill>
                        </a:rPr>
                        <a:t>misreads or invents text</a:t>
                      </a:r>
                      <a:endParaRPr lang="en-US" sz="15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1500" dirty="0">
                          <a:solidFill>
                            <a:schemeClr val="tx1"/>
                          </a:solidFill>
                        </a:rPr>
                        <a:t>searches every quote in the PDF text or OCR. Numbers must match exactly: "200 g" never matches "150 g".</a:t>
                      </a:r>
                      <a:endParaRPr lang="en-US" sz="15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566928">
                <a:tc>
                  <a:txBody>
                    <a:bodyPr/>
                    <a:lstStyle/>
                    <a:p>
                      <a:pPr indent="0" marL="0">
                        <a:buNone/>
                      </a:pPr>
                      <a:r>
                        <a:rPr lang="en-US" sz="1500" b="1" dirty="0">
                          <a:solidFill>
                            <a:schemeClr val="tx1"/>
                          </a:solidFill>
                        </a:rPr>
                        <a:t>says something is missing</a:t>
                      </a:r>
                      <a:endParaRPr lang="en-US" sz="15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1500" dirty="0">
                          <a:solidFill>
                            <a:schemeClr val="tx1"/>
                          </a:solidFill>
                        </a:rPr>
                        <a:t>searches the artwork again. If it is there, the finding becomes "possible false alarm".</a:t>
                      </a:r>
                      <a:endParaRPr lang="en-US" sz="15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566928">
                <a:tc>
                  <a:txBody>
                    <a:bodyPr/>
                    <a:lstStyle/>
                    <a:p>
                      <a:pPr indent="0" marL="0">
                        <a:buNone/>
                      </a:pPr>
                      <a:r>
                        <a:rPr lang="en-US" sz="1500" b="1" dirty="0">
                          <a:solidFill>
                            <a:schemeClr val="tx1"/>
                          </a:solidFill>
                        </a:rPr>
                        <a:t>disagrees with arithmetic</a:t>
                      </a:r>
                      <a:endParaRPr lang="en-US" sz="15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1500" dirty="0">
                          <a:solidFill>
                            <a:schemeClr val="tx1"/>
                          </a:solidFill>
                        </a:rPr>
                        <a:t>lets the code win on value checks, e.g. sodium printed 610 mg vs 560 mg approved.</a:t>
                      </a:r>
                      <a:endParaRPr lang="en-US" sz="15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566928">
                <a:tc>
                  <a:txBody>
                    <a:bodyPr/>
                    <a:lstStyle/>
                    <a:p>
                      <a:pPr indent="0" marL="0">
                        <a:buNone/>
                      </a:pPr>
                      <a:r>
                        <a:rPr lang="en-US" sz="1500" b="1" dirty="0">
                          <a:solidFill>
                            <a:schemeClr val="tx1"/>
                          </a:solidFill>
                        </a:rPr>
                        <a:t>is unsure</a:t>
                      </a:r>
                      <a:endParaRPr lang="en-US" sz="15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1500" dirty="0">
                          <a:solidFill>
                            <a:schemeClr val="tx1"/>
                          </a:solidFill>
                        </a:rPr>
                        <a:t>sends low-confidence verdicts to NEEDS REVIEW instead of guessing.</a:t>
                      </a:r>
                      <a:endParaRPr lang="en-US" sz="15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566928">
                <a:tc>
                  <a:txBody>
                    <a:bodyPr/>
                    <a:lstStyle/>
                    <a:p>
                      <a:pPr indent="0" marL="0">
                        <a:buNone/>
                      </a:pPr>
                      <a:r>
                        <a:rPr lang="en-US" sz="1500" b="1" dirty="0">
                          <a:solidFill>
                            <a:schemeClr val="tx1"/>
                          </a:solidFill>
                        </a:rPr>
                        <a:t>can't measure something</a:t>
                      </a:r>
                      <a:endParaRPr lang="en-US" sz="15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1500" dirty="0">
                          <a:solidFill>
                            <a:schemeClr val="tx1"/>
                          </a:solidFill>
                        </a:rPr>
                        <a:t>measures text size exactly from PDFs; from a photo (no scale) it sends the rule to a human.</a:t>
                      </a:r>
                      <a:endParaRPr lang="en-US" sz="1500" dirty="0"/>
                    </a:p>
                  </a:txBody>
                  <a:tcPr marL="127000" marR="127000" marT="50800" marB="5080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bl>
          </a:graphicData>
        </a:graphic>
      </p:graphicFrame>
      <p:sp>
        <p:nvSpPr>
          <p:cNvPr id="4" name="trust note"/>
          <p:cNvSpPr txBox="1"/>
          <p:nvPr/>
        </p:nvSpPr>
        <p:spPr>
          <a:xfrm>
            <a:off x="548640" y="5257800"/>
            <a:ext cx="11064240" cy="411480"/>
          </a:xfrm>
          <a:prstGeom prst="rect">
            <a:avLst/>
          </a:prstGeom>
          <a:noFill/>
          <a:ln/>
        </p:spPr>
        <p:txBody>
          <a:bodyPr wrap="square" lIns="0" tIns="0" rIns="0" bIns="0" rtlCol="0" anchor="ctr"/>
          <a:lstStyle/>
          <a:p>
            <a:pPr indent="0" marL="0">
              <a:buNone/>
            </a:pPr>
            <a:r>
              <a:rPr lang="en-US" sz="1600" i="1" dirty="0">
                <a:solidFill>
                  <a:schemeClr val="accent1"/>
                </a:solidFill>
              </a:rPr>
              <a:t>Every change is written into the finding's trust notes, so the reviewer always sees why.</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Results on our test artwork</a:t>
            </a:r>
            <a:endParaRPr lang="en-US" sz="3400" dirty="0"/>
          </a:p>
        </p:txBody>
      </p:sp>
      <p:sp>
        <p:nvSpPr>
          <p:cNvPr id="3" name="stat 1"/>
          <p:cNvSpPr txBox="1"/>
          <p:nvPr/>
        </p:nvSpPr>
        <p:spPr>
          <a:xfrm>
            <a:off x="548640" y="1325880"/>
            <a:ext cx="4937760" cy="777240"/>
          </a:xfrm>
          <a:prstGeom prst="rect">
            <a:avLst/>
          </a:prstGeom>
          <a:noFill/>
          <a:ln/>
        </p:spPr>
        <p:txBody>
          <a:bodyPr wrap="square" lIns="0" tIns="0" rIns="0" bIns="0" rtlCol="0" anchor="b"/>
          <a:lstStyle/>
          <a:p>
            <a:pPr indent="0" marL="0">
              <a:buNone/>
            </a:pPr>
            <a:r>
              <a:rPr lang="en-US" sz="4800" b="1" dirty="0">
                <a:solidFill>
                  <a:schemeClr val="accent1"/>
                </a:solidFill>
              </a:rPr>
              <a:t>7 / 7</a:t>
            </a:r>
            <a:endParaRPr lang="en-US" sz="4800" dirty="0"/>
          </a:p>
        </p:txBody>
      </p:sp>
      <p:sp>
        <p:nvSpPr>
          <p:cNvPr id="4" name="stat 1 label"/>
          <p:cNvSpPr txBox="1"/>
          <p:nvPr/>
        </p:nvSpPr>
        <p:spPr>
          <a:xfrm>
            <a:off x="548640" y="2148840"/>
            <a:ext cx="4937760" cy="685800"/>
          </a:xfrm>
          <a:prstGeom prst="rect">
            <a:avLst/>
          </a:prstGeom>
          <a:noFill/>
          <a:ln/>
        </p:spPr>
        <p:txBody>
          <a:bodyPr wrap="square" lIns="0" tIns="0" rIns="0" bIns="0" rtlCol="0" anchor="t"/>
          <a:lstStyle/>
          <a:p>
            <a:pPr indent="0" marL="0">
              <a:buNone/>
            </a:pPr>
            <a:r>
              <a:rPr lang="en-US" sz="1500" dirty="0">
                <a:solidFill>
                  <a:schemeClr val="tx1"/>
                </a:solidFill>
              </a:rPr>
              <a:t>planted errors caught: net quantity, allergen statement, peanut %, sodium, licence number, claims, text size</a:t>
            </a:r>
            <a:endParaRPr lang="en-US" sz="1500" dirty="0"/>
          </a:p>
        </p:txBody>
      </p:sp>
      <p:sp>
        <p:nvSpPr>
          <p:cNvPr id="5" name="stat 2"/>
          <p:cNvSpPr txBox="1"/>
          <p:nvPr/>
        </p:nvSpPr>
        <p:spPr>
          <a:xfrm>
            <a:off x="548640" y="2926080"/>
            <a:ext cx="4937760" cy="777240"/>
          </a:xfrm>
          <a:prstGeom prst="rect">
            <a:avLst/>
          </a:prstGeom>
          <a:noFill/>
          <a:ln/>
        </p:spPr>
        <p:txBody>
          <a:bodyPr wrap="square" lIns="0" tIns="0" rIns="0" bIns="0" rtlCol="0" anchor="b"/>
          <a:lstStyle/>
          <a:p>
            <a:pPr indent="0" marL="0">
              <a:buNone/>
            </a:pPr>
            <a:r>
              <a:rPr lang="en-US" sz="4800" b="1" dirty="0">
                <a:solidFill>
                  <a:schemeClr val="accent2"/>
                </a:solidFill>
              </a:rPr>
              <a:t>0</a:t>
            </a:r>
            <a:endParaRPr lang="en-US" sz="4800" dirty="0"/>
          </a:p>
        </p:txBody>
      </p:sp>
      <p:sp>
        <p:nvSpPr>
          <p:cNvPr id="6" name="stat 2 label"/>
          <p:cNvSpPr txBox="1"/>
          <p:nvPr/>
        </p:nvSpPr>
        <p:spPr>
          <a:xfrm>
            <a:off x="548640" y="3749040"/>
            <a:ext cx="4937760" cy="685800"/>
          </a:xfrm>
          <a:prstGeom prst="rect">
            <a:avLst/>
          </a:prstGeom>
          <a:noFill/>
          <a:ln/>
        </p:spPr>
        <p:txBody>
          <a:bodyPr wrap="square" lIns="0" tIns="0" rIns="0" bIns="0" rtlCol="0" anchor="t"/>
          <a:lstStyle/>
          <a:p>
            <a:pPr indent="0" marL="0">
              <a:buNone/>
            </a:pPr>
            <a:r>
              <a:rPr lang="en-US" sz="1500" dirty="0">
                <a:solidFill>
                  <a:schemeClr val="tx1"/>
                </a:solidFill>
              </a:rPr>
              <a:t>false alarms on the corrected artwork: READY TO PRINT, 25 rules pass</a:t>
            </a:r>
            <a:endParaRPr lang="en-US" sz="1500" dirty="0"/>
          </a:p>
        </p:txBody>
      </p:sp>
      <p:sp>
        <p:nvSpPr>
          <p:cNvPr id="7" name="stat 3"/>
          <p:cNvSpPr txBox="1"/>
          <p:nvPr/>
        </p:nvSpPr>
        <p:spPr>
          <a:xfrm>
            <a:off x="548640" y="4526280"/>
            <a:ext cx="4937760" cy="777240"/>
          </a:xfrm>
          <a:prstGeom prst="rect">
            <a:avLst/>
          </a:prstGeom>
          <a:noFill/>
          <a:ln/>
        </p:spPr>
        <p:txBody>
          <a:bodyPr wrap="square" lIns="0" tIns="0" rIns="0" bIns="0" rtlCol="0" anchor="b"/>
          <a:lstStyle/>
          <a:p>
            <a:pPr indent="0" marL="0">
              <a:buNone/>
            </a:pPr>
            <a:r>
              <a:rPr lang="en-US" sz="4800" b="1" dirty="0">
                <a:solidFill>
                  <a:schemeClr val="accent3"/>
                </a:solidFill>
              </a:rPr>
              <a:t>PDF + photo</a:t>
            </a:r>
            <a:endParaRPr lang="en-US" sz="4800" dirty="0"/>
          </a:p>
        </p:txBody>
      </p:sp>
      <p:sp>
        <p:nvSpPr>
          <p:cNvPr id="8" name="stat 3 label"/>
          <p:cNvSpPr txBox="1"/>
          <p:nvPr/>
        </p:nvSpPr>
        <p:spPr>
          <a:xfrm>
            <a:off x="548640" y="5349240"/>
            <a:ext cx="4937760" cy="685800"/>
          </a:xfrm>
          <a:prstGeom prst="rect">
            <a:avLst/>
          </a:prstGeom>
          <a:noFill/>
          <a:ln/>
        </p:spPr>
        <p:txBody>
          <a:bodyPr wrap="square" lIns="0" tIns="0" rIns="0" bIns="0" rtlCol="0" anchor="t"/>
          <a:lstStyle/>
          <a:p>
            <a:pPr indent="0" marL="0">
              <a:buNone/>
            </a:pPr>
            <a:r>
              <a:rPr lang="en-US" sz="1500" dirty="0">
                <a:solidFill>
                  <a:schemeClr val="tx1"/>
                </a:solidFill>
              </a:rPr>
              <a:t>the same errors are found from a photo via OCR; size rules go to a human</a:t>
            </a:r>
            <a:endParaRPr lang="en-US" sz="1500" dirty="0"/>
          </a:p>
        </p:txBody>
      </p:sp>
      <p:pic>
        <p:nvPicPr>
          <p:cNvPr id="9" name="annotated artwork" descr="C:\Users\raksh\AppData\Local\Temp\claude\C--Users-raksh\2894d81d-6b99-4316-a661-7e6c7e9217a6\scratchpad\deck\annotated_v1.png">    </p:cNvPr>
          <p:cNvPicPr>
            <a:picLocks noChangeAspect="1"/>
          </p:cNvPicPr>
          <p:nvPr/>
        </p:nvPicPr>
        <p:blipFill>
          <a:blip r:embed="rId1"/>
          <a:stretch>
            <a:fillRect/>
          </a:stretch>
        </p:blipFill>
        <p:spPr>
          <a:xfrm>
            <a:off x="5806440" y="1600200"/>
            <a:ext cx="5852160" cy="3016301"/>
          </a:xfrm>
          <a:prstGeom prst="rect">
            <a:avLst/>
          </a:prstGeom>
        </p:spPr>
      </p:pic>
      <p:sp>
        <p:nvSpPr>
          <p:cNvPr id="10" name="results caption"/>
          <p:cNvSpPr txBox="1"/>
          <p:nvPr/>
        </p:nvSpPr>
        <p:spPr>
          <a:xfrm>
            <a:off x="5806440" y="4726229"/>
            <a:ext cx="5852160" cy="502920"/>
          </a:xfrm>
          <a:prstGeom prst="rect">
            <a:avLst/>
          </a:prstGeom>
          <a:noFill/>
          <a:ln/>
        </p:spPr>
        <p:txBody>
          <a:bodyPr wrap="square" lIns="0" tIns="0" rIns="0" bIns="0" rtlCol="0" anchor="ctr"/>
          <a:lstStyle/>
          <a:p>
            <a:pPr indent="0" marL="0">
              <a:buNone/>
            </a:pPr>
            <a:r>
              <a:rPr lang="en-US" sz="1200" i="1" dirty="0">
                <a:solidFill>
                  <a:schemeClr val="accent6"/>
                </a:solidFill>
              </a:rPr>
              <a:t>Real run with Gemini 3.8 Flash on our sample pouch (fictitious product). Red boxes = failing findings.</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reviewer workspace</a:t>
            </a:r>
            <a:endParaRPr lang="en-US" sz="3400" dirty="0"/>
          </a:p>
        </p:txBody>
      </p:sp>
      <p:pic>
        <p:nvPicPr>
          <p:cNvPr id="3" name="app screenshot" descr="C:\Users\raksh\AppData\Local\Temp\claude\C--Users-raksh\2894d81d-6b99-4316-a661-7e6c7e9217a6\scratchpad\deck\app_results_crop.png">    </p:cNvPr>
          <p:cNvPicPr>
            <a:picLocks noChangeAspect="1"/>
          </p:cNvPicPr>
          <p:nvPr/>
        </p:nvPicPr>
        <p:blipFill>
          <a:blip r:embed="rId1"/>
          <a:stretch>
            <a:fillRect/>
          </a:stretch>
        </p:blipFill>
        <p:spPr>
          <a:xfrm>
            <a:off x="548640" y="1325880"/>
            <a:ext cx="7315200" cy="4092558"/>
          </a:xfrm>
          <a:prstGeom prst="rect">
            <a:avLst/>
          </a:prstGeom>
        </p:spPr>
      </p:pic>
      <p:sp>
        <p:nvSpPr>
          <p:cNvPr id="4" name="screenshot frame"/>
          <p:cNvSpPr/>
          <p:nvPr/>
        </p:nvSpPr>
        <p:spPr>
          <a:xfrm>
            <a:off x="548640" y="1325880"/>
            <a:ext cx="7315200" cy="4092558"/>
          </a:xfrm>
          <a:prstGeom prst="rect">
            <a:avLst/>
          </a:prstGeom>
          <a:ln w="9525">
            <a:solidFill>
              <a:schemeClr val="accent6"/>
            </a:solidFill>
            <a:prstDash val="solid"/>
          </a:ln>
        </p:spPr>
      </p:sp>
      <p:sp>
        <p:nvSpPr>
          <p:cNvPr id="5" name="features"/>
          <p:cNvSpPr txBox="1"/>
          <p:nvPr/>
        </p:nvSpPr>
        <p:spPr>
          <a:xfrm>
            <a:off x="8229600" y="1325880"/>
            <a:ext cx="3383280" cy="4023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Launch verdict at a glance</a:t>
            </a:r>
            <a:endParaRPr lang="en-US" sz="1600" dirty="0"/>
          </a:p>
          <a:p>
            <a:pPr marL="342900" indent="-342900">
              <a:spcAft>
                <a:spcPts val="1000"/>
              </a:spcAft>
              <a:buSzPct val="100000"/>
              <a:buChar char="•"/>
            </a:pPr>
            <a:r>
              <a:rPr lang="en-US" sz="1600" dirty="0">
                <a:solidFill>
                  <a:schemeClr val="tx1"/>
                </a:solidFill>
              </a:rPr>
              <a:t>Click a finding to see its evidence on the artwork</a:t>
            </a:r>
            <a:endParaRPr lang="en-US" sz="1600" dirty="0"/>
          </a:p>
          <a:p>
            <a:pPr marL="342900" indent="-342900">
              <a:spcAft>
                <a:spcPts val="1000"/>
              </a:spcAft>
              <a:buSzPct val="100000"/>
              <a:buChar char="•"/>
            </a:pPr>
            <a:r>
              <a:rPr lang="en-US" sz="1600" dirty="0">
                <a:solidFill>
                  <a:schemeClr val="tx1"/>
                </a:solidFill>
              </a:rPr>
              <a:t>Rule text quoted from the source document</a:t>
            </a:r>
            <a:endParaRPr lang="en-US" sz="1600" dirty="0"/>
          </a:p>
          <a:p>
            <a:pPr marL="342900" indent="-342900">
              <a:spcAft>
                <a:spcPts val="1000"/>
              </a:spcAft>
              <a:buSzPct val="100000"/>
              <a:buChar char="•"/>
            </a:pPr>
            <a:r>
              <a:rPr lang="en-US" sz="1600" dirty="0">
                <a:solidFill>
                  <a:schemeClr val="tx1"/>
                </a:solidFill>
              </a:rPr>
              <a:t>Confirm, or dismiss as a false alarm</a:t>
            </a:r>
            <a:endParaRPr lang="en-US" sz="1600" dirty="0"/>
          </a:p>
          <a:p>
            <a:pPr marL="342900" indent="-342900">
              <a:spcAft>
                <a:spcPts val="1000"/>
              </a:spcAft>
              <a:buSzPct val="100000"/>
              <a:buChar char="•"/>
            </a:pPr>
            <a:r>
              <a:rPr lang="en-US" sz="1600" dirty="0">
                <a:solidFill>
                  <a:schemeClr val="tx1"/>
                </a:solidFill>
              </a:rPr>
              <a:t>Ask follow-up questions in a chat</a:t>
            </a:r>
            <a:endParaRPr lang="en-US" sz="1600" dirty="0"/>
          </a:p>
          <a:p>
            <a:pPr marL="342900" indent="-342900">
              <a:spcAft>
                <a:spcPts val="1000"/>
              </a:spcAft>
              <a:buSzPct val="100000"/>
              <a:buChar char="•"/>
            </a:pPr>
            <a:r>
              <a:rPr lang="en-US" sz="1600" dirty="0">
                <a:solidFill>
                  <a:schemeClr val="tx1"/>
                </a:solidFill>
              </a:rPr>
              <a:t>Export an HTML report for the design agency</a:t>
            </a:r>
            <a:endParaRPr lang="en-US" sz="1600" dirty="0"/>
          </a:p>
        </p:txBody>
      </p:sp>
      <p:sp>
        <p:nvSpPr>
          <p:cNvPr id="6" name="live link"/>
          <p:cNvSpPr txBox="1"/>
          <p:nvPr/>
        </p:nvSpPr>
        <p:spPr>
          <a:xfrm>
            <a:off x="548640" y="5555598"/>
            <a:ext cx="7315200" cy="365760"/>
          </a:xfrm>
          <a:prstGeom prst="rect">
            <a:avLst/>
          </a:prstGeom>
          <a:noFill/>
          <a:ln/>
        </p:spPr>
        <p:txBody>
          <a:bodyPr wrap="square" lIns="0" tIns="0" rIns="0" bIns="0" rtlCol="0" anchor="ctr"/>
          <a:lstStyle/>
          <a:p>
            <a:pPr indent="0" marL="0">
              <a:buNone/>
            </a:pPr>
            <a:r>
              <a:rPr lang="en-US" sz="1400" b="1" dirty="0">
                <a:solidFill>
                  <a:schemeClr val="tx1"/>
                </a:solidFill>
              </a:rPr>
              <a:t>Try it live:  </a:t>
            </a:r>
            <a:pPr indent="0" marL="0">
              <a:buNone/>
            </a:pPr>
            <a:r>
              <a:rPr lang="en-US" sz="14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labelguard-re4hy3d9hvwj6rffs4fdcn.streamlit.app</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Built with</a:t>
            </a:r>
            <a:endParaRPr lang="en-US" sz="3400" dirty="0"/>
          </a:p>
        </p:txBody>
      </p:sp>
      <p:sp>
        <p:nvSpPr>
          <p:cNvPr id="3" name="tech 1 label"/>
          <p:cNvSpPr txBox="1"/>
          <p:nvPr/>
        </p:nvSpPr>
        <p:spPr>
          <a:xfrm>
            <a:off x="548640" y="1371600"/>
            <a:ext cx="2377440" cy="685800"/>
          </a:xfrm>
          <a:prstGeom prst="rect">
            <a:avLst/>
          </a:prstGeom>
          <a:noFill/>
          <a:ln/>
        </p:spPr>
        <p:txBody>
          <a:bodyPr wrap="square" lIns="0" tIns="0" rIns="0" bIns="0" rtlCol="0" anchor="ctr"/>
          <a:lstStyle/>
          <a:p>
            <a:pPr indent="0" marL="0">
              <a:buNone/>
            </a:pPr>
            <a:r>
              <a:rPr lang="en-US" sz="1800" b="1" dirty="0">
                <a:solidFill>
                  <a:schemeClr val="accent3"/>
                </a:solidFill>
              </a:rPr>
              <a:t>AI</a:t>
            </a:r>
            <a:endParaRPr lang="en-US" sz="1800" dirty="0"/>
          </a:p>
        </p:txBody>
      </p:sp>
      <p:sp>
        <p:nvSpPr>
          <p:cNvPr id="4" name="tech 1"/>
          <p:cNvSpPr txBox="1"/>
          <p:nvPr/>
        </p:nvSpPr>
        <p:spPr>
          <a:xfrm>
            <a:off x="3017520" y="1371600"/>
            <a:ext cx="8595360" cy="685800"/>
          </a:xfrm>
          <a:prstGeom prst="rect">
            <a:avLst/>
          </a:prstGeom>
          <a:noFill/>
          <a:ln/>
        </p:spPr>
        <p:txBody>
          <a:bodyPr wrap="square" lIns="0" tIns="0" rIns="0" bIns="0" rtlCol="0" anchor="ctr"/>
          <a:lstStyle/>
          <a:p>
            <a:pPr indent="0" marL="0">
              <a:buNone/>
            </a:pPr>
            <a:r>
              <a:rPr lang="en-US" sz="1600" dirty="0">
                <a:solidFill>
                  <a:schemeClr val="tx1"/>
                </a:solidFill>
              </a:rPr>
              <a:t>Google Gemini 3.8 Flash (free tier), Claude Opus 5.5 as an option. Structured outputs: every answer must match a schema.</a:t>
            </a:r>
            <a:endParaRPr lang="en-US" sz="1600" dirty="0"/>
          </a:p>
        </p:txBody>
      </p:sp>
      <p:sp>
        <p:nvSpPr>
          <p:cNvPr id="5" name="tech divider 1"/>
          <p:cNvSpPr/>
          <p:nvPr/>
        </p:nvSpPr>
        <p:spPr>
          <a:xfrm>
            <a:off x="548640" y="2148840"/>
            <a:ext cx="11064240" cy="0"/>
          </a:xfrm>
          <a:prstGeom prst="line">
            <a:avLst/>
          </a:prstGeom>
          <a:noFill/>
          <a:ln w="12700">
            <a:solidFill>
              <a:schemeClr val="bg2"/>
            </a:solidFill>
            <a:prstDash val="solid"/>
          </a:ln>
        </p:spPr>
      </p:sp>
      <p:sp>
        <p:nvSpPr>
          <p:cNvPr id="6" name="tech 2 label"/>
          <p:cNvSpPr txBox="1"/>
          <p:nvPr/>
        </p:nvSpPr>
        <p:spPr>
          <a:xfrm>
            <a:off x="548640" y="2240280"/>
            <a:ext cx="2377440" cy="685800"/>
          </a:xfrm>
          <a:prstGeom prst="rect">
            <a:avLst/>
          </a:prstGeom>
          <a:noFill/>
          <a:ln/>
        </p:spPr>
        <p:txBody>
          <a:bodyPr wrap="square" lIns="0" tIns="0" rIns="0" bIns="0" rtlCol="0" anchor="ctr"/>
          <a:lstStyle/>
          <a:p>
            <a:pPr indent="0" marL="0">
              <a:buNone/>
            </a:pPr>
            <a:r>
              <a:rPr lang="en-US" sz="1800" b="1" dirty="0">
                <a:solidFill>
                  <a:schemeClr val="accent2"/>
                </a:solidFill>
              </a:rPr>
              <a:t>Reading files</a:t>
            </a:r>
            <a:endParaRPr lang="en-US" sz="1800" dirty="0"/>
          </a:p>
        </p:txBody>
      </p:sp>
      <p:sp>
        <p:nvSpPr>
          <p:cNvPr id="7" name="tech 2"/>
          <p:cNvSpPr txBox="1"/>
          <p:nvPr/>
        </p:nvSpPr>
        <p:spPr>
          <a:xfrm>
            <a:off x="3017520" y="2240280"/>
            <a:ext cx="8595360" cy="685800"/>
          </a:xfrm>
          <a:prstGeom prst="rect">
            <a:avLst/>
          </a:prstGeom>
          <a:noFill/>
          <a:ln/>
        </p:spPr>
        <p:txBody>
          <a:bodyPr wrap="square" lIns="0" tIns="0" rIns="0" bIns="0" rtlCol="0" anchor="ctr"/>
          <a:lstStyle/>
          <a:p>
            <a:pPr indent="0" marL="0">
              <a:buNone/>
            </a:pPr>
            <a:r>
              <a:rPr lang="en-US" sz="1600" dirty="0">
                <a:solidFill>
                  <a:schemeClr val="tx1"/>
                </a:solidFill>
              </a:rPr>
              <a:t>PyMuPDF for PDF text, positions and font sizes. RapidOCR for images. python-docx and openpyxl for documents.</a:t>
            </a:r>
            <a:endParaRPr lang="en-US" sz="1600" dirty="0"/>
          </a:p>
        </p:txBody>
      </p:sp>
      <p:sp>
        <p:nvSpPr>
          <p:cNvPr id="8" name="tech divider 2"/>
          <p:cNvSpPr/>
          <p:nvPr/>
        </p:nvSpPr>
        <p:spPr>
          <a:xfrm>
            <a:off x="548640" y="3017520"/>
            <a:ext cx="11064240" cy="0"/>
          </a:xfrm>
          <a:prstGeom prst="line">
            <a:avLst/>
          </a:prstGeom>
          <a:noFill/>
          <a:ln w="12700">
            <a:solidFill>
              <a:schemeClr val="bg2"/>
            </a:solidFill>
            <a:prstDash val="solid"/>
          </a:ln>
        </p:spPr>
      </p:sp>
      <p:sp>
        <p:nvSpPr>
          <p:cNvPr id="9" name="tech 3 label"/>
          <p:cNvSpPr txBox="1"/>
          <p:nvPr/>
        </p:nvSpPr>
        <p:spPr>
          <a:xfrm>
            <a:off x="548640" y="3108960"/>
            <a:ext cx="2377440" cy="685800"/>
          </a:xfrm>
          <a:prstGeom prst="rect">
            <a:avLst/>
          </a:prstGeom>
          <a:noFill/>
          <a:ln/>
        </p:spPr>
        <p:txBody>
          <a:bodyPr wrap="square" lIns="0" tIns="0" rIns="0" bIns="0" rtlCol="0" anchor="ctr"/>
          <a:lstStyle/>
          <a:p>
            <a:pPr indent="0" marL="0">
              <a:buNone/>
            </a:pPr>
            <a:r>
              <a:rPr lang="en-US" sz="1800" b="1" dirty="0">
                <a:solidFill>
                  <a:schemeClr val="accent2"/>
                </a:solidFill>
              </a:rPr>
              <a:t>Checking</a:t>
            </a:r>
            <a:endParaRPr lang="en-US" sz="1800" dirty="0"/>
          </a:p>
        </p:txBody>
      </p:sp>
      <p:sp>
        <p:nvSpPr>
          <p:cNvPr id="10" name="tech 3"/>
          <p:cNvSpPr txBox="1"/>
          <p:nvPr/>
        </p:nvSpPr>
        <p:spPr>
          <a:xfrm>
            <a:off x="3017520" y="3108960"/>
            <a:ext cx="8595360" cy="685800"/>
          </a:xfrm>
          <a:prstGeom prst="rect">
            <a:avLst/>
          </a:prstGeom>
          <a:noFill/>
          <a:ln/>
        </p:spPr>
        <p:txBody>
          <a:bodyPr wrap="square" lIns="0" tIns="0" rIns="0" bIns="0" rtlCol="0" anchor="ctr"/>
          <a:lstStyle/>
          <a:p>
            <a:pPr indent="0" marL="0">
              <a:buNone/>
            </a:pPr>
            <a:r>
              <a:rPr lang="en-US" sz="1600" dirty="0">
                <a:solidFill>
                  <a:schemeClr val="tx1"/>
                </a:solidFill>
              </a:rPr>
              <a:t>RapidFuzz matching that is strict on numbers, plus plain Python comparisons and measurements.</a:t>
            </a:r>
            <a:endParaRPr lang="en-US" sz="1600" dirty="0"/>
          </a:p>
        </p:txBody>
      </p:sp>
      <p:sp>
        <p:nvSpPr>
          <p:cNvPr id="11" name="tech divider 3"/>
          <p:cNvSpPr/>
          <p:nvPr/>
        </p:nvSpPr>
        <p:spPr>
          <a:xfrm>
            <a:off x="548640" y="3886200"/>
            <a:ext cx="11064240" cy="0"/>
          </a:xfrm>
          <a:prstGeom prst="line">
            <a:avLst/>
          </a:prstGeom>
          <a:noFill/>
          <a:ln w="12700">
            <a:solidFill>
              <a:schemeClr val="bg2"/>
            </a:solidFill>
            <a:prstDash val="solid"/>
          </a:ln>
        </p:spPr>
      </p:sp>
      <p:sp>
        <p:nvSpPr>
          <p:cNvPr id="12" name="tech 4 label"/>
          <p:cNvSpPr txBox="1"/>
          <p:nvPr/>
        </p:nvSpPr>
        <p:spPr>
          <a:xfrm>
            <a:off x="548640" y="3977640"/>
            <a:ext cx="2377440" cy="685800"/>
          </a:xfrm>
          <a:prstGeom prst="rect">
            <a:avLst/>
          </a:prstGeom>
          <a:noFill/>
          <a:ln/>
        </p:spPr>
        <p:txBody>
          <a:bodyPr wrap="square" lIns="0" tIns="0" rIns="0" bIns="0" rtlCol="0" anchor="ctr"/>
          <a:lstStyle/>
          <a:p>
            <a:pPr indent="0" marL="0">
              <a:buNone/>
            </a:pPr>
            <a:r>
              <a:rPr lang="en-US" sz="1800" b="1" dirty="0">
                <a:solidFill>
                  <a:schemeClr val="accent4"/>
                </a:solidFill>
              </a:rPr>
              <a:t>App</a:t>
            </a:r>
            <a:endParaRPr lang="en-US" sz="1800" dirty="0"/>
          </a:p>
        </p:txBody>
      </p:sp>
      <p:sp>
        <p:nvSpPr>
          <p:cNvPr id="13" name="tech 4"/>
          <p:cNvSpPr txBox="1"/>
          <p:nvPr/>
        </p:nvSpPr>
        <p:spPr>
          <a:xfrm>
            <a:off x="3017520" y="3977640"/>
            <a:ext cx="8595360" cy="685800"/>
          </a:xfrm>
          <a:prstGeom prst="rect">
            <a:avLst/>
          </a:prstGeom>
          <a:noFill/>
          <a:ln/>
        </p:spPr>
        <p:txBody>
          <a:bodyPr wrap="square" lIns="0" tIns="0" rIns="0" bIns="0" rtlCol="0" anchor="ctr"/>
          <a:lstStyle/>
          <a:p>
            <a:pPr indent="0" marL="0">
              <a:buNone/>
            </a:pPr>
            <a:r>
              <a:rPr lang="en-US" sz="1600" dirty="0">
                <a:solidFill>
                  <a:schemeClr val="tx1"/>
                </a:solidFill>
              </a:rPr>
              <a:t>Streamlit, deployed on Streamlit Community Cloud. HTML and JSON report export.</a:t>
            </a:r>
            <a:endParaRPr lang="en-US" sz="1600" dirty="0"/>
          </a:p>
        </p:txBody>
      </p:sp>
      <p:sp>
        <p:nvSpPr>
          <p:cNvPr id="14" name="tech divider 4"/>
          <p:cNvSpPr/>
          <p:nvPr/>
        </p:nvSpPr>
        <p:spPr>
          <a:xfrm>
            <a:off x="548640" y="4754880"/>
            <a:ext cx="11064240" cy="0"/>
          </a:xfrm>
          <a:prstGeom prst="line">
            <a:avLst/>
          </a:prstGeom>
          <a:noFill/>
          <a:ln w="12700">
            <a:solidFill>
              <a:schemeClr val="bg2"/>
            </a:solidFill>
            <a:prstDash val="solid"/>
          </a:ln>
        </p:spPr>
      </p:sp>
      <p:sp>
        <p:nvSpPr>
          <p:cNvPr id="15" name="tech 5 label"/>
          <p:cNvSpPr txBox="1"/>
          <p:nvPr/>
        </p:nvSpPr>
        <p:spPr>
          <a:xfrm>
            <a:off x="548640" y="4846320"/>
            <a:ext cx="2377440" cy="685800"/>
          </a:xfrm>
          <a:prstGeom prst="rect">
            <a:avLst/>
          </a:prstGeom>
          <a:noFill/>
          <a:ln/>
        </p:spPr>
        <p:txBody>
          <a:bodyPr wrap="square" lIns="0" tIns="0" rIns="0" bIns="0" rtlCol="0" anchor="ctr"/>
          <a:lstStyle/>
          <a:p>
            <a:pPr indent="0" marL="0">
              <a:buNone/>
            </a:pPr>
            <a:r>
              <a:rPr lang="en-US" sz="1800" b="1" dirty="0">
                <a:solidFill>
                  <a:schemeClr val="accent1"/>
                </a:solidFill>
              </a:rPr>
              <a:t>Quality</a:t>
            </a:r>
            <a:endParaRPr lang="en-US" sz="1800" dirty="0"/>
          </a:p>
        </p:txBody>
      </p:sp>
      <p:sp>
        <p:nvSpPr>
          <p:cNvPr id="16" name="tech 5"/>
          <p:cNvSpPr txBox="1"/>
          <p:nvPr/>
        </p:nvSpPr>
        <p:spPr>
          <a:xfrm>
            <a:off x="3017520" y="4846320"/>
            <a:ext cx="8595360" cy="685800"/>
          </a:xfrm>
          <a:prstGeom prst="rect">
            <a:avLst/>
          </a:prstGeom>
          <a:noFill/>
          <a:ln/>
        </p:spPr>
        <p:txBody>
          <a:bodyPr wrap="square" lIns="0" tIns="0" rIns="0" bIns="0" rtlCol="0" anchor="ctr"/>
          <a:lstStyle/>
          <a:p>
            <a:pPr indent="0" marL="0">
              <a:buNone/>
            </a:pPr>
            <a:r>
              <a:rPr lang="en-US" sz="1600" dirty="0">
                <a:solidFill>
                  <a:schemeClr val="tx1"/>
                </a:solidFill>
              </a:rPr>
              <a:t>27 automated tests, including a fake AI that makes deliberate mistakes the trust layer must catch.</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Try it</a:t>
            </a:r>
            <a:endParaRPr lang="en-US" sz="3400" dirty="0"/>
          </a:p>
        </p:txBody>
      </p:sp>
      <p:sp>
        <p:nvSpPr>
          <p:cNvPr id="3" name="links"/>
          <p:cNvSpPr txBox="1"/>
          <p:nvPr/>
        </p:nvSpPr>
        <p:spPr>
          <a:xfrm>
            <a:off x="548640" y="1371600"/>
            <a:ext cx="6583680" cy="2194560"/>
          </a:xfrm>
          <a:prstGeom prst="rect">
            <a:avLst/>
          </a:prstGeom>
          <a:noFill/>
          <a:ln/>
        </p:spPr>
        <p:txBody>
          <a:bodyPr wrap="square" lIns="0" tIns="0" rIns="0" bIns="0" rtlCol="0" anchor="t"/>
          <a:lstStyle/>
          <a:p>
            <a:pPr indent="0" marL="0">
              <a:buNone/>
            </a:pPr>
            <a:r>
              <a:rPr lang="en-US" sz="1600" dirty="0">
                <a:solidFill>
                  <a:schemeClr val="accent6"/>
                </a:solidFill>
              </a:rPr>
              <a:t>Live app</a:t>
            </a:r>
            <a:endParaRPr lang="en-US" sz="1600" dirty="0"/>
          </a:p>
          <a:p>
            <a:pPr indent="0" marL="0">
              <a:buNone/>
            </a:pPr>
            <a:r>
              <a:rPr lang="en-US" sz="22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labelguard-re4hy3d9hvwj6rffs4fdcn.streamlit.app</a:t>
            </a:r>
            <a:endParaRPr lang="en-US" sz="1600" dirty="0"/>
          </a:p>
          <a:p>
            <a:pPr indent="0" marL="0">
              <a:buNone/>
            </a:pPr>
            <a:r>
              <a:rPr lang="en-US" sz="1000" dirty="0">
                <a:solidFill>
                  <a:srgbClr val="000000"/>
                </a:solidFill>
              </a:rPr>
              <a:t> </a:t>
            </a:r>
            <a:endParaRPr lang="en-US" sz="1600" dirty="0"/>
          </a:p>
          <a:p>
            <a:pPr indent="0" marL="0">
              <a:buNone/>
            </a:pPr>
            <a:r>
              <a:rPr lang="en-US" sz="1600" dirty="0">
                <a:solidFill>
                  <a:schemeClr val="accent6"/>
                </a:solidFill>
              </a:rPr>
              <a:t>Code</a:t>
            </a:r>
            <a:endParaRPr lang="en-US" sz="1600" dirty="0"/>
          </a:p>
          <a:p>
            <a:pPr indent="0" marL="0">
              <a:buNone/>
            </a:pPr>
            <a:r>
              <a:rPr lang="en-US" sz="22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github.com/Rarxx4/LabelGuard</a:t>
            </a:r>
            <a:endParaRPr lang="en-US" sz="1600" dirty="0"/>
          </a:p>
        </p:txBody>
      </p:sp>
      <p:sp>
        <p:nvSpPr>
          <p:cNvPr id="4" name="how to try"/>
          <p:cNvSpPr txBox="1"/>
          <p:nvPr/>
        </p:nvSpPr>
        <p:spPr>
          <a:xfrm>
            <a:off x="548640" y="3566160"/>
            <a:ext cx="6583680" cy="1371600"/>
          </a:xfrm>
          <a:prstGeom prst="rect">
            <a:avLst/>
          </a:prstGeom>
          <a:solidFill>
            <a:schemeClr val="bg1"/>
          </a:solidFill>
          <a:ln w="12700">
            <a:solidFill>
              <a:schemeClr val="accent6"/>
            </a:solidFill>
          </a:ln>
        </p:spPr>
        <p:txBody>
          <a:bodyPr wrap="square" lIns="127000" tIns="152400" rIns="152400" bIns="127000" rtlCol="0" anchor="t"/>
          <a:lstStyle/>
          <a:p>
            <a:pPr indent="0" marL="0">
              <a:buNone/>
            </a:pPr>
            <a:r>
              <a:rPr lang="en-US" sz="1700" b="1" dirty="0">
                <a:solidFill>
                  <a:schemeClr val="tx1"/>
                </a:solidFill>
              </a:rPr>
              <a:t>How to try it</a:t>
            </a:r>
            <a:endParaRPr lang="en-US" sz="1500" dirty="0"/>
          </a:p>
          <a:p>
            <a:pPr indent="0" marL="0">
              <a:buNone/>
            </a:pPr>
            <a:r>
              <a:rPr lang="en-US" sz="1500" dirty="0">
                <a:solidFill>
                  <a:schemeClr val="tx1"/>
                </a:solidFill>
              </a:rPr>
              <a:t>Open "Previous runs" in the sidebar and pick a recorded example: real results, no key needed. To check new artwork, enter the access code we share or paste your own free Gemini key.</a:t>
            </a:r>
            <a:endParaRPr lang="en-US" sz="1500" dirty="0"/>
          </a:p>
        </p:txBody>
      </p:sp>
      <p:sp>
        <p:nvSpPr>
          <p:cNvPr id="5" name="next steps"/>
          <p:cNvSpPr txBox="1"/>
          <p:nvPr/>
        </p:nvSpPr>
        <p:spPr>
          <a:xfrm>
            <a:off x="7680960" y="1371600"/>
            <a:ext cx="3931920" cy="429768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Next steps</a:t>
            </a:r>
            <a:endParaRPr lang="en-US" sz="2000" dirty="0"/>
          </a:p>
          <a:p>
            <a:pPr marL="342900" indent="-342900">
              <a:spcAft>
                <a:spcPts val="1000"/>
              </a:spcAft>
              <a:buSzPct val="100000"/>
              <a:buChar char="•"/>
            </a:pPr>
            <a:r>
              <a:rPr lang="en-US" sz="1600" dirty="0">
                <a:solidFill>
                  <a:schemeClr val="tx1"/>
                </a:solidFill>
              </a:rPr>
              <a:t>Detect panels and dielines for placement rules</a:t>
            </a:r>
            <a:endParaRPr lang="en-US" sz="2000" dirty="0"/>
          </a:p>
          <a:p>
            <a:pPr marL="342900" indent="-342900">
              <a:spcAft>
                <a:spcPts val="1000"/>
              </a:spcAft>
              <a:buSzPct val="100000"/>
              <a:buChar char="•"/>
            </a:pPr>
            <a:r>
              <a:rPr lang="en-US" sz="1600" dirty="0">
                <a:solidFill>
                  <a:schemeClr val="tx1"/>
                </a:solidFill>
              </a:rPr>
              <a:t>Multilingual packs</a:t>
            </a:r>
            <a:endParaRPr lang="en-US" sz="2000" dirty="0"/>
          </a:p>
          <a:p>
            <a:pPr marL="342900" indent="-342900">
              <a:spcAft>
                <a:spcPts val="1000"/>
              </a:spcAft>
              <a:buSzPct val="100000"/>
              <a:buChar char="•"/>
            </a:pPr>
            <a:r>
              <a:rPr lang="en-US" sz="1600" dirty="0">
                <a:solidFill>
                  <a:schemeClr val="tx1"/>
                </a:solidFill>
              </a:rPr>
              <a:t>Turn reviewer dismissals into rulebook clarifications</a:t>
            </a:r>
            <a:endParaRPr lang="en-US" sz="2000" dirty="0"/>
          </a:p>
          <a:p>
            <a:pPr marL="342900" indent="-342900">
              <a:spcAft>
                <a:spcPts val="1000"/>
              </a:spcAft>
              <a:buSzPct val="100000"/>
              <a:buChar char="•"/>
            </a:pPr>
            <a:r>
              <a:rPr lang="en-US" sz="1600" dirty="0">
                <a:solidFill>
                  <a:schemeClr val="tx1"/>
                </a:solidFill>
              </a:rPr>
              <a:t>Connect to an approval workflow such as Esko WebCenter</a:t>
            </a:r>
            <a:endParaRPr lang="en-US" sz="2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LabelGuard">
  <a:themeElements>
    <a:clrScheme name="LabelGuard">
      <a:dk1>
        <a:srgbClr val="1F2328"/>
      </a:dk1>
      <a:lt1>
        <a:srgbClr val="FFFFFF"/>
      </a:lt1>
      <a:dk2>
        <a:srgbClr val="4B5563"/>
      </a:dk2>
      <a:lt2>
        <a:srgbClr val="F3F4F6"/>
      </a:lt2>
      <a:accent1>
        <a:srgbClr val="C62828"/>
      </a:accent1>
      <a:accent2>
        <a:srgbClr val="2E7D32"/>
      </a:accent2>
      <a:accent3>
        <a:srgbClr val="B26A00"/>
      </a:accent3>
      <a:accent4>
        <a:srgbClr val="37474F"/>
      </a:accent4>
      <a:accent5>
        <a:srgbClr val="8E1B1B"/>
      </a:accent5>
      <a:accent6>
        <a:srgbClr val="6B7280"/>
      </a:accent6>
      <a:hlink>
        <a:srgbClr val="C62828"/>
      </a:hlink>
      <a:folHlink>
        <a:srgbClr val="8E1B1B"/>
      </a:folHlink>
    </a:clrScheme>
    <a:fontScheme name="LabelGuar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LabelGuard - Esko AIForge 2026</dc:title>
  <dc:subject>PptxGenJS Presentation</dc:subject>
  <dc:creator>LabelGuard team</dc:creator>
  <cp:lastModifiedBy>LabelGuard team</cp:lastModifiedBy>
  <cp:revision>1</cp:revision>
  <dcterms:created xsi:type="dcterms:W3CDTF">2026-10-21T08:06:59Z</dcterms:created>
  <dcterms:modified xsi:type="dcterms:W3CDTF">2026-10-21T08:06:59Z</dcterms:modified>
</cp:coreProperties>
</file>